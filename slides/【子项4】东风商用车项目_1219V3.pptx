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715" r:id="rId2"/>
  </p:sldMasterIdLst>
  <p:notesMasterIdLst>
    <p:notesMasterId r:id="rId9"/>
  </p:notesMasterIdLst>
  <p:sldIdLst>
    <p:sldId id="3292" r:id="rId3"/>
    <p:sldId id="3307" r:id="rId4"/>
    <p:sldId id="3308" r:id="rId5"/>
    <p:sldId id="3309" r:id="rId6"/>
    <p:sldId id="3313" r:id="rId7"/>
    <p:sldId id="3314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2"/>
    <a:srgbClr val="0039AC"/>
    <a:srgbClr val="E9EDF4"/>
    <a:srgbClr val="95B3D7"/>
    <a:srgbClr val="FFFFFC"/>
    <a:srgbClr val="8FAADC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2" autoAdjust="0"/>
    <p:restoredTop sz="94407" autoAdjust="0"/>
  </p:normalViewPr>
  <p:slideViewPr>
    <p:cSldViewPr snapToGrid="0">
      <p:cViewPr varScale="1">
        <p:scale>
          <a:sx n="172" d="100"/>
          <a:sy n="172" d="100"/>
        </p:scale>
        <p:origin x="18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AB9A5-7CF0-452B-9F96-5696DC639CE2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90A9A-84CB-49F5-AF59-32C5D5574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0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61D50C-2A46-49BA-857E-9A3D9C20A6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1BE-37C7-B3B6-F589-CF2E2D03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2634C8-BA14-40C3-1811-FC2099DA1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3B5A77-2620-7B2B-13B1-5DF62E2F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C3B6D9-54B4-38A0-DF2E-8BD655A14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0A9A-84CB-49F5-AF59-32C5D5574DB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90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E4186-904E-7FDB-F637-E2F5F30A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6121A0-D59C-7C4D-5816-2D54C80F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41565E-6B51-0328-D1E9-19905AE50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4500B-3424-5FB5-BA31-4E7740B50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0A9A-84CB-49F5-AF59-32C5D5574D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96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62B3-D5E8-6A5C-FC33-41B7C07B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952E56-6256-4D5A-6F22-391210832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86620-EBC1-0645-BD25-B473CA08B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FAFAA2-6B12-7BDE-1D33-0C0C7A4C7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0A9A-84CB-49F5-AF59-32C5D5574D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286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670E-889C-C6B3-AAF8-B31CF3CC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41A96C-2498-C761-6CC9-A409CE2C2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7C71C-7F8A-6A7B-5AA5-91345069D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E4782-C63A-BCDE-C0A1-5F0C9942A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0A9A-84CB-49F5-AF59-32C5D5574DB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61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4F78-E854-8278-C860-44677400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5AD49E-43B1-3250-132E-DC43529B6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CDB15B-1E70-F74F-D0F4-B50663EAE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20EE37-6FAA-8057-F8F9-0C9507089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90A9A-84CB-49F5-AF59-32C5D5574D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3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710849"/>
            <a:ext cx="121920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1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07433" y="125095"/>
            <a:ext cx="11280987" cy="54292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7433" y="125095"/>
            <a:ext cx="11280987" cy="54292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 userDrawn="1"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7433" y="125095"/>
            <a:ext cx="11280987" cy="54292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 userDrawn="1"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30951" y="124781"/>
            <a:ext cx="10482763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55"/>
            <a:ext cx="909955" cy="765175"/>
          </a:xfrm>
          <a:prstGeom prst="rect">
            <a:avLst/>
          </a:prstGeom>
        </p:spPr>
      </p:pic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95868"/>
            <a:ext cx="10515600" cy="448716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>
          <a:xfrm>
            <a:off x="4035505" y="6356351"/>
            <a:ext cx="41148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2/51</a:t>
            </a:r>
            <a:endParaRPr lang="zh-CN" altLang="en-US" dirty="0"/>
          </a:p>
        </p:txBody>
      </p:sp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710849"/>
            <a:ext cx="121920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7433" y="125095"/>
            <a:ext cx="11280987" cy="54292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2/51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76D27-FC4C-4C65-90F5-F7429882B5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136560" y="2571744"/>
            <a:ext cx="1055483" cy="571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-43" y="2571744"/>
            <a:ext cx="3429024" cy="571504"/>
          </a:xfrm>
          <a:prstGeom prst="homePlate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7568" y="2130426"/>
            <a:ext cx="8763061" cy="1470025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11624" y="3886200"/>
            <a:ext cx="8248648" cy="1042998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714734" y="6357959"/>
            <a:ext cx="2476517" cy="365125"/>
          </a:xfrm>
        </p:spPr>
        <p:txBody>
          <a:bodyPr/>
          <a:lstStyle/>
          <a:p>
            <a:fld id="{AFB76D27-FC4C-4C65-90F5-F7429882B58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五边形 6"/>
          <p:cNvSpPr/>
          <p:nvPr/>
        </p:nvSpPr>
        <p:spPr>
          <a:xfrm>
            <a:off x="0" y="2571744"/>
            <a:ext cx="3238480" cy="571504"/>
          </a:xfrm>
          <a:prstGeom prst="homePlat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80577" y="2571744"/>
            <a:ext cx="911424" cy="571504"/>
          </a:xfrm>
          <a:prstGeom prst="rect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-11704" y="0"/>
            <a:ext cx="5355305" cy="12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6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logo-Tsinghua-灰.png"/>
          <p:cNvPicPr>
            <a:picLocks noChangeAspect="1"/>
          </p:cNvPicPr>
          <p:nvPr/>
        </p:nvPicPr>
        <p:blipFill>
          <a:blip r:embed="rId3" cstate="print">
            <a:lum bright="100000"/>
          </a:blip>
          <a:srcRect/>
          <a:stretch>
            <a:fillRect/>
          </a:stretch>
        </p:blipFill>
        <p:spPr>
          <a:xfrm>
            <a:off x="-2400944" y="1589828"/>
            <a:ext cx="6264696" cy="42754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0972800" cy="778098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660874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89850"/>
            <a:ext cx="10972800" cy="487545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571384" y="44624"/>
            <a:ext cx="2573288" cy="365125"/>
          </a:xfrm>
        </p:spPr>
        <p:txBody>
          <a:bodyPr/>
          <a:lstStyle>
            <a:lvl1pPr>
              <a:defRPr sz="1600"/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五边形 13"/>
          <p:cNvSpPr/>
          <p:nvPr/>
        </p:nvSpPr>
        <p:spPr>
          <a:xfrm>
            <a:off x="0" y="1052736"/>
            <a:ext cx="7048507" cy="71438"/>
          </a:xfrm>
          <a:prstGeom prst="homePlate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42" y="1052736"/>
            <a:ext cx="6857964" cy="71438"/>
          </a:xfrm>
          <a:prstGeom prst="homePlat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/>
          <a:srcRect r="66216"/>
          <a:stretch>
            <a:fillRect/>
          </a:stretch>
        </p:blipFill>
        <p:spPr>
          <a:xfrm>
            <a:off x="10560496" y="183972"/>
            <a:ext cx="1368152" cy="9594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A9A8C28-42EF-3793-178D-9AAC64D9403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710849"/>
            <a:ext cx="121920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6879725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3967" y="4071932"/>
            <a:ext cx="9802316" cy="1362075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3967" y="2571745"/>
            <a:ext cx="98023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714734" y="6357959"/>
            <a:ext cx="2476517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五边形 14"/>
          <p:cNvSpPr/>
          <p:nvPr/>
        </p:nvSpPr>
        <p:spPr>
          <a:xfrm>
            <a:off x="-44" y="4094163"/>
            <a:ext cx="1333509" cy="571504"/>
          </a:xfrm>
          <a:prstGeom prst="homePlate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五边形 15"/>
          <p:cNvSpPr/>
          <p:nvPr/>
        </p:nvSpPr>
        <p:spPr>
          <a:xfrm>
            <a:off x="0" y="4094163"/>
            <a:ext cx="1142965" cy="571504"/>
          </a:xfrm>
          <a:prstGeom prst="homePlat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-6547" y="5714988"/>
            <a:ext cx="4824536" cy="114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387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logo-Tsinghua-灰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rcRect/>
          <a:stretch>
            <a:fillRect/>
          </a:stretch>
        </p:blipFill>
        <p:spPr>
          <a:xfrm>
            <a:off x="-2400944" y="1589828"/>
            <a:ext cx="6264696" cy="4275497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196752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844825"/>
            <a:ext cx="5386917" cy="4227382"/>
          </a:xfr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196752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1844825"/>
            <a:ext cx="5389033" cy="4227382"/>
          </a:xfr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7" name="五边形 26"/>
          <p:cNvSpPr/>
          <p:nvPr/>
        </p:nvSpPr>
        <p:spPr>
          <a:xfrm>
            <a:off x="0" y="1052736"/>
            <a:ext cx="7048507" cy="71438"/>
          </a:xfrm>
          <a:prstGeom prst="homePlate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五边形 27"/>
          <p:cNvSpPr/>
          <p:nvPr/>
        </p:nvSpPr>
        <p:spPr>
          <a:xfrm>
            <a:off x="42" y="1052736"/>
            <a:ext cx="6857964" cy="71438"/>
          </a:xfrm>
          <a:prstGeom prst="homePlat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0972800" cy="778098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660874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7968208" y="183972"/>
            <a:ext cx="4049652" cy="95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7462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7292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-1968500" y="1764859"/>
            <a:ext cx="1727200" cy="11176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</a:rPr>
              <a:t>标准字体颜色</a:t>
            </a:r>
          </a:p>
        </p:txBody>
      </p:sp>
      <p:sp>
        <p:nvSpPr>
          <p:cNvPr id="18" name="矩形 17"/>
          <p:cNvSpPr/>
          <p:nvPr/>
        </p:nvSpPr>
        <p:spPr>
          <a:xfrm>
            <a:off x="-1968500" y="3061813"/>
            <a:ext cx="1727200" cy="1117600"/>
          </a:xfrm>
          <a:prstGeom prst="rect">
            <a:avLst/>
          </a:prstGeom>
          <a:solidFill>
            <a:srgbClr val="E2EA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文字背景颜色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750816" y="-209993"/>
            <a:ext cx="2558268" cy="877370"/>
            <a:chOff x="9732433" y="-200219"/>
            <a:chExt cx="2558268" cy="877370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5782" r="28258" b="58924"/>
            <a:stretch>
              <a:fillRect/>
            </a:stretch>
          </p:blipFill>
          <p:spPr>
            <a:xfrm>
              <a:off x="9732433" y="55895"/>
              <a:ext cx="631525" cy="62125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3" cstate="print"/>
            <a:srcRect/>
            <a:stretch>
              <a:fillRect/>
            </a:stretch>
          </p:blipFill>
          <p:spPr>
            <a:xfrm>
              <a:off x="10261350" y="-200219"/>
              <a:ext cx="2029351" cy="877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653584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775749" y="0"/>
            <a:ext cx="10889201" cy="768367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75749" y="759741"/>
            <a:ext cx="10889202" cy="0"/>
          </a:xfrm>
          <a:prstGeom prst="lin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5400000" scaled="1"/>
          </a:gradFill>
          <a:ln w="317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-35816" y="-132272"/>
            <a:ext cx="811564" cy="10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00512"/>
      </p:ext>
    </p:extLst>
  </p:cSld>
  <p:clrMapOvr>
    <a:masterClrMapping/>
  </p:clrMapOvr>
  <p:transition>
    <p:fade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328907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653817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0451737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5304568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942242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6162646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5075377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5923691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236328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08679972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5503408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886078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8456815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8154850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18959959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3909000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6633489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8932576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747971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84039706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5331784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8143137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58136797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延期 10"/>
          <p:cNvSpPr/>
          <p:nvPr/>
        </p:nvSpPr>
        <p:spPr>
          <a:xfrm>
            <a:off x="0" y="90228"/>
            <a:ext cx="540792" cy="534303"/>
          </a:xfrm>
          <a:prstGeom prst="flowChartDelay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710849"/>
            <a:ext cx="12192000" cy="8992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3825" y="6453822"/>
            <a:ext cx="63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195" y="-98854"/>
            <a:ext cx="4829175" cy="1104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954655" y="6620500"/>
            <a:ext cx="8757862" cy="66049"/>
            <a:chOff x="1131328" y="6601648"/>
            <a:chExt cx="10581190" cy="53152"/>
          </a:xfrm>
        </p:grpSpPr>
        <p:sp>
          <p:nvSpPr>
            <p:cNvPr id="19" name="矩形 18"/>
            <p:cNvSpPr/>
            <p:nvPr userDrawn="1"/>
          </p:nvSpPr>
          <p:spPr>
            <a:xfrm>
              <a:off x="7965980" y="6601649"/>
              <a:ext cx="3746538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1131328" y="6601648"/>
              <a:ext cx="6834649" cy="53151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396335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自动驾驶汽车实验室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0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711" y="124781"/>
            <a:ext cx="4639888" cy="54290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45334073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9194" y="80830"/>
            <a:ext cx="7985504" cy="76789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83289" y="6451319"/>
            <a:ext cx="946264" cy="306358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60783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9194" y="80830"/>
            <a:ext cx="7985504" cy="76789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83289" y="6451319"/>
            <a:ext cx="946264" cy="306358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31118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1536596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23376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9536653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5137641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52169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70991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301783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027721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259918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19915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76" y="1323416"/>
            <a:ext cx="11813793" cy="501868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1139"/>
            <a:ext cx="2743200" cy="365125"/>
          </a:xfrm>
        </p:spPr>
        <p:txBody>
          <a:bodyPr/>
          <a:lstStyle/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1431654" y="786733"/>
            <a:ext cx="1820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Clean Vehicles Consortium</a:t>
            </a:r>
          </a:p>
        </p:txBody>
      </p:sp>
      <p:pic>
        <p:nvPicPr>
          <p:cNvPr id="13" name="Picture 2" descr="正文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8"/>
          <a:stretch>
            <a:fillRect/>
          </a:stretch>
        </p:blipFill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9639949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710849"/>
            <a:ext cx="121920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内容占位符 5"/>
          <p:cNvSpPr>
            <a:spLocks noGrp="1"/>
          </p:cNvSpPr>
          <p:nvPr>
            <p:ph sz="quarter" idx="10" hasCustomPrompt="1"/>
          </p:nvPr>
        </p:nvSpPr>
        <p:spPr>
          <a:xfrm>
            <a:off x="207963" y="1006475"/>
            <a:ext cx="11804651" cy="531495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07433" y="125095"/>
            <a:ext cx="11280987" cy="54292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8420" y="213360"/>
            <a:ext cx="703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9649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683E12FC-B727-46EE-A3F4-36BAB21DAD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E12FC-B727-46EE-A3F4-36BAB21DA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83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39998" y="4448140"/>
            <a:ext cx="8712000" cy="502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 sz="135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13000" y="2697742"/>
            <a:ext cx="9165996" cy="146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lnSpc>
                <a:spcPct val="130000"/>
              </a:lnSpc>
            </a:pP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子课题四</a:t>
            </a: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—EBS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系统对接</a:t>
            </a:r>
            <a:endParaRPr lang="en-US" altLang="zh-CN" sz="3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457200">
              <a:lnSpc>
                <a:spcPct val="130000"/>
              </a:lnSpc>
            </a:pP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商用车新能源双桥电驱动技术开发</a:t>
            </a:r>
          </a:p>
        </p:txBody>
      </p:sp>
      <p:sp>
        <p:nvSpPr>
          <p:cNvPr id="15" name="矩形 14"/>
          <p:cNvSpPr/>
          <p:nvPr/>
        </p:nvSpPr>
        <p:spPr>
          <a:xfrm>
            <a:off x="1988022" y="1304922"/>
            <a:ext cx="8215953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4530" fontAlgn="base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东风商用车智能驾驶联合研究中心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269" y="429984"/>
            <a:ext cx="3839821" cy="873805"/>
          </a:xfrm>
          <a:prstGeom prst="rect">
            <a:avLst/>
          </a:prstGeom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43" b="20976"/>
          <a:stretch>
            <a:fillRect/>
          </a:stretch>
        </p:blipFill>
        <p:spPr bwMode="auto">
          <a:xfrm>
            <a:off x="2345910" y="415774"/>
            <a:ext cx="2352279" cy="8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97ED45-FF98-8F50-4D93-C1FA57D62AAA}"/>
              </a:ext>
            </a:extLst>
          </p:cNvPr>
          <p:cNvSpPr txBox="1"/>
          <p:nvPr/>
        </p:nvSpPr>
        <p:spPr>
          <a:xfrm>
            <a:off x="2768824" y="5457041"/>
            <a:ext cx="6654347" cy="52245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2025/12/22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0B4FF-B129-89DB-67DE-DF611B0F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FF9800-0DA6-96CD-2141-A066D649C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3E12FC-B727-46EE-A3F4-36BAB21DAD93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3">
            <a:extLst>
              <a:ext uri="{FF2B5EF4-FFF2-40B4-BE49-F238E27FC236}">
                <a16:creationId xmlns:a16="http://schemas.microsoft.com/office/drawing/2014/main" id="{AE2F89BB-EE65-E48B-9282-1B8AFCAE6EE2}"/>
              </a:ext>
            </a:extLst>
          </p:cNvPr>
          <p:cNvSpPr txBox="1">
            <a:spLocks/>
          </p:cNvSpPr>
          <p:nvPr/>
        </p:nvSpPr>
        <p:spPr>
          <a:xfrm>
            <a:off x="406398" y="88727"/>
            <a:ext cx="9575801" cy="542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1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涉及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EBS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2" name="矩形: 圆角 19">
            <a:extLst>
              <a:ext uri="{FF2B5EF4-FFF2-40B4-BE49-F238E27FC236}">
                <a16:creationId xmlns:a16="http://schemas.microsoft.com/office/drawing/2014/main" id="{EF4041D5-7509-3309-3634-C934182BF07F}"/>
              </a:ext>
            </a:extLst>
          </p:cNvPr>
          <p:cNvSpPr/>
          <p:nvPr/>
        </p:nvSpPr>
        <p:spPr>
          <a:xfrm>
            <a:off x="3689290" y="2600229"/>
            <a:ext cx="5059121" cy="117431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: 圆角 21">
            <a:extLst>
              <a:ext uri="{FF2B5EF4-FFF2-40B4-BE49-F238E27FC236}">
                <a16:creationId xmlns:a16="http://schemas.microsoft.com/office/drawing/2014/main" id="{C7B9C547-1F73-A338-E2D0-4154B95FB956}"/>
              </a:ext>
            </a:extLst>
          </p:cNvPr>
          <p:cNvSpPr/>
          <p:nvPr/>
        </p:nvSpPr>
        <p:spPr>
          <a:xfrm>
            <a:off x="4827868" y="2655977"/>
            <a:ext cx="2882694" cy="405443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前后轴力矩分配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E93D1-5C0A-B36B-1B08-63F288393289}"/>
              </a:ext>
            </a:extLst>
          </p:cNvPr>
          <p:cNvSpPr txBox="1"/>
          <p:nvPr/>
        </p:nvSpPr>
        <p:spPr>
          <a:xfrm>
            <a:off x="3482553" y="3171768"/>
            <a:ext cx="554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基于</a:t>
            </a:r>
            <a:r>
              <a:rPr lang="en-US" altLang="zh-CN" dirty="0"/>
              <a:t>ECE</a:t>
            </a:r>
            <a:r>
              <a:rPr lang="zh-CN" altLang="en-US" dirty="0"/>
              <a:t>制动法规修正后的</a:t>
            </a:r>
            <a:r>
              <a:rPr lang="en-US" altLang="zh-CN" dirty="0"/>
              <a:t>I</a:t>
            </a:r>
            <a:r>
              <a:rPr lang="zh-CN" altLang="en-US" dirty="0"/>
              <a:t>曲线分配</a:t>
            </a:r>
          </a:p>
        </p:txBody>
      </p:sp>
      <p:sp>
        <p:nvSpPr>
          <p:cNvPr id="6" name="矩形: 圆角 48">
            <a:extLst>
              <a:ext uri="{FF2B5EF4-FFF2-40B4-BE49-F238E27FC236}">
                <a16:creationId xmlns:a16="http://schemas.microsoft.com/office/drawing/2014/main" id="{148F4BF8-AA75-5D99-2DB8-301978BA0A54}"/>
              </a:ext>
            </a:extLst>
          </p:cNvPr>
          <p:cNvSpPr/>
          <p:nvPr/>
        </p:nvSpPr>
        <p:spPr>
          <a:xfrm>
            <a:off x="4481509" y="4096592"/>
            <a:ext cx="2882694" cy="405443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气压，电机力矩分配</a:t>
            </a:r>
          </a:p>
        </p:txBody>
      </p:sp>
      <p:sp>
        <p:nvSpPr>
          <p:cNvPr id="7" name="矩形: 圆角 52">
            <a:extLst>
              <a:ext uri="{FF2B5EF4-FFF2-40B4-BE49-F238E27FC236}">
                <a16:creationId xmlns:a16="http://schemas.microsoft.com/office/drawing/2014/main" id="{7E019E0E-7BE6-CEF0-1190-2E482016ACE4}"/>
              </a:ext>
            </a:extLst>
          </p:cNvPr>
          <p:cNvSpPr/>
          <p:nvPr/>
        </p:nvSpPr>
        <p:spPr>
          <a:xfrm>
            <a:off x="3704167" y="4017976"/>
            <a:ext cx="5053155" cy="226078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65A61A-F712-4BEF-BAAC-39169B090A94}"/>
              </a:ext>
            </a:extLst>
          </p:cNvPr>
          <p:cNvSpPr txBox="1"/>
          <p:nvPr/>
        </p:nvSpPr>
        <p:spPr>
          <a:xfrm>
            <a:off x="3677896" y="5278657"/>
            <a:ext cx="926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制动力矩需求</a:t>
            </a:r>
          </a:p>
        </p:txBody>
      </p:sp>
      <p:sp>
        <p:nvSpPr>
          <p:cNvPr id="9" name="流程图: 或者 56">
            <a:extLst>
              <a:ext uri="{FF2B5EF4-FFF2-40B4-BE49-F238E27FC236}">
                <a16:creationId xmlns:a16="http://schemas.microsoft.com/office/drawing/2014/main" id="{FE18E148-3D01-D2D0-CB11-84287AEA4660}"/>
              </a:ext>
            </a:extLst>
          </p:cNvPr>
          <p:cNvSpPr/>
          <p:nvPr/>
        </p:nvSpPr>
        <p:spPr>
          <a:xfrm>
            <a:off x="4794207" y="5467080"/>
            <a:ext cx="290658" cy="276941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或者 57">
            <a:extLst>
              <a:ext uri="{FF2B5EF4-FFF2-40B4-BE49-F238E27FC236}">
                <a16:creationId xmlns:a16="http://schemas.microsoft.com/office/drawing/2014/main" id="{95EE19B9-6FC3-C69A-F5AC-2FBB962D9976}"/>
              </a:ext>
            </a:extLst>
          </p:cNvPr>
          <p:cNvSpPr/>
          <p:nvPr/>
        </p:nvSpPr>
        <p:spPr>
          <a:xfrm>
            <a:off x="7575787" y="5472306"/>
            <a:ext cx="305215" cy="267503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49CCDD-F257-1F96-B25D-56C800C0190C}"/>
              </a:ext>
            </a:extLst>
          </p:cNvPr>
          <p:cNvSpPr txBox="1"/>
          <p:nvPr/>
        </p:nvSpPr>
        <p:spPr>
          <a:xfrm>
            <a:off x="7744058" y="4945713"/>
            <a:ext cx="951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实际动力矩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1A345BB-47DB-C524-ED2D-BA977980CF5E}"/>
              </a:ext>
            </a:extLst>
          </p:cNvPr>
          <p:cNvGrpSpPr/>
          <p:nvPr/>
        </p:nvGrpSpPr>
        <p:grpSpPr>
          <a:xfrm>
            <a:off x="5557002" y="5273490"/>
            <a:ext cx="1257444" cy="651498"/>
            <a:chOff x="4606425" y="5407087"/>
            <a:chExt cx="1504159" cy="65149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85A51F2-7C2A-AADC-FDF9-6466A9239E09}"/>
                </a:ext>
              </a:extLst>
            </p:cNvPr>
            <p:cNvSpPr txBox="1"/>
            <p:nvPr/>
          </p:nvSpPr>
          <p:spPr>
            <a:xfrm>
              <a:off x="4660945" y="5407087"/>
              <a:ext cx="1449639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/>
                <a:t>基于规则进行分配</a:t>
              </a:r>
            </a:p>
          </p:txBody>
        </p:sp>
        <p:sp>
          <p:nvSpPr>
            <p:cNvPr id="16" name="矩形: 圆角 59">
              <a:extLst>
                <a:ext uri="{FF2B5EF4-FFF2-40B4-BE49-F238E27FC236}">
                  <a16:creationId xmlns:a16="http://schemas.microsoft.com/office/drawing/2014/main" id="{81EBE78A-1587-A87C-7963-3FCA2A739DE1}"/>
                </a:ext>
              </a:extLst>
            </p:cNvPr>
            <p:cNvSpPr/>
            <p:nvPr/>
          </p:nvSpPr>
          <p:spPr>
            <a:xfrm>
              <a:off x="4606425" y="5412254"/>
              <a:ext cx="1489576" cy="646331"/>
            </a:xfrm>
            <a:prstGeom prst="roundRect">
              <a:avLst>
                <a:gd name="adj" fmla="val 8233"/>
              </a:avLst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流程图: 或者 64">
            <a:extLst>
              <a:ext uri="{FF2B5EF4-FFF2-40B4-BE49-F238E27FC236}">
                <a16:creationId xmlns:a16="http://schemas.microsoft.com/office/drawing/2014/main" id="{F4FC7F93-B0C6-BAFE-513B-FB2492211698}"/>
              </a:ext>
            </a:extLst>
          </p:cNvPr>
          <p:cNvSpPr/>
          <p:nvPr/>
        </p:nvSpPr>
        <p:spPr>
          <a:xfrm>
            <a:off x="4827760" y="4945713"/>
            <a:ext cx="286743" cy="261748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360893-EC62-2C03-C195-1B834341D4C3}"/>
              </a:ext>
            </a:extLst>
          </p:cNvPr>
          <p:cNvSpPr txBox="1"/>
          <p:nvPr/>
        </p:nvSpPr>
        <p:spPr>
          <a:xfrm>
            <a:off x="3668607" y="4606650"/>
            <a:ext cx="926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气压制动力矩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2ACFEF-9800-4524-6B22-DFC85C2E7521}"/>
              </a:ext>
            </a:extLst>
          </p:cNvPr>
          <p:cNvSpPr txBox="1"/>
          <p:nvPr/>
        </p:nvSpPr>
        <p:spPr>
          <a:xfrm>
            <a:off x="6880254" y="5256489"/>
            <a:ext cx="559064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lIns="0" rIns="0">
            <a:spAutoFit/>
          </a:bodyPr>
          <a:lstStyle/>
          <a:p>
            <a:pPr algn="ctr"/>
            <a:r>
              <a:rPr lang="zh-CN" altLang="en-US" dirty="0"/>
              <a:t>电机力矩</a:t>
            </a:r>
          </a:p>
        </p:txBody>
      </p:sp>
      <p:cxnSp>
        <p:nvCxnSpPr>
          <p:cNvPr id="20" name="连接符: 肘形 68">
            <a:extLst>
              <a:ext uri="{FF2B5EF4-FFF2-40B4-BE49-F238E27FC236}">
                <a16:creationId xmlns:a16="http://schemas.microsoft.com/office/drawing/2014/main" id="{E119407C-7CB3-D0CE-A93F-14C0F6148739}"/>
              </a:ext>
            </a:extLst>
          </p:cNvPr>
          <p:cNvCxnSpPr>
            <a:cxnSpLocks/>
            <a:stCxn id="10" idx="4"/>
            <a:endCxn id="9" idx="4"/>
          </p:cNvCxnSpPr>
          <p:nvPr/>
        </p:nvCxnSpPr>
        <p:spPr>
          <a:xfrm rot="5400000">
            <a:off x="6331860" y="4347486"/>
            <a:ext cx="4212" cy="2788859"/>
          </a:xfrm>
          <a:prstGeom prst="bentConnector3">
            <a:avLst>
              <a:gd name="adj1" fmla="val 86933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74">
            <a:extLst>
              <a:ext uri="{FF2B5EF4-FFF2-40B4-BE49-F238E27FC236}">
                <a16:creationId xmlns:a16="http://schemas.microsoft.com/office/drawing/2014/main" id="{11238528-0196-347E-8F02-A9569FA11CDA}"/>
              </a:ext>
            </a:extLst>
          </p:cNvPr>
          <p:cNvCxnSpPr>
            <a:cxnSpLocks/>
            <a:stCxn id="9" idx="6"/>
            <a:endCxn id="16" idx="1"/>
          </p:cNvCxnSpPr>
          <p:nvPr/>
        </p:nvCxnSpPr>
        <p:spPr>
          <a:xfrm flipV="1">
            <a:off x="5084865" y="5601823"/>
            <a:ext cx="472137" cy="37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79">
            <a:extLst>
              <a:ext uri="{FF2B5EF4-FFF2-40B4-BE49-F238E27FC236}">
                <a16:creationId xmlns:a16="http://schemas.microsoft.com/office/drawing/2014/main" id="{0219C90A-4C6A-7B9D-087A-75397C514D5A}"/>
              </a:ext>
            </a:extLst>
          </p:cNvPr>
          <p:cNvCxnSpPr/>
          <p:nvPr/>
        </p:nvCxnSpPr>
        <p:spPr>
          <a:xfrm>
            <a:off x="4803579" y="5853307"/>
            <a:ext cx="840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7AC60C4-895D-C7BA-E6EA-27424A3D1058}"/>
              </a:ext>
            </a:extLst>
          </p:cNvPr>
          <p:cNvGrpSpPr/>
          <p:nvPr/>
        </p:nvGrpSpPr>
        <p:grpSpPr>
          <a:xfrm>
            <a:off x="4671617" y="5648077"/>
            <a:ext cx="84040" cy="84183"/>
            <a:chOff x="4676079" y="5263333"/>
            <a:chExt cx="84040" cy="84183"/>
          </a:xfrm>
        </p:grpSpPr>
        <p:cxnSp>
          <p:nvCxnSpPr>
            <p:cNvPr id="24" name="直接连接符 80">
              <a:extLst>
                <a:ext uri="{FF2B5EF4-FFF2-40B4-BE49-F238E27FC236}">
                  <a16:creationId xmlns:a16="http://schemas.microsoft.com/office/drawing/2014/main" id="{5CEE2EB2-F5B6-23A1-82FF-D08BC11038CA}"/>
                </a:ext>
              </a:extLst>
            </p:cNvPr>
            <p:cNvCxnSpPr/>
            <p:nvPr/>
          </p:nvCxnSpPr>
          <p:spPr>
            <a:xfrm>
              <a:off x="4676079" y="5305425"/>
              <a:ext cx="840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81">
              <a:extLst>
                <a:ext uri="{FF2B5EF4-FFF2-40B4-BE49-F238E27FC236}">
                  <a16:creationId xmlns:a16="http://schemas.microsoft.com/office/drawing/2014/main" id="{0381C912-F1EB-8920-88F0-655CD50EEC22}"/>
                </a:ext>
              </a:extLst>
            </p:cNvPr>
            <p:cNvCxnSpPr>
              <a:cxnSpLocks/>
            </p:cNvCxnSpPr>
            <p:nvPr/>
          </p:nvCxnSpPr>
          <p:spPr>
            <a:xfrm>
              <a:off x="4720481" y="5263333"/>
              <a:ext cx="0" cy="84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接箭头连接符 85">
            <a:extLst>
              <a:ext uri="{FF2B5EF4-FFF2-40B4-BE49-F238E27FC236}">
                <a16:creationId xmlns:a16="http://schemas.microsoft.com/office/drawing/2014/main" id="{6486F1CA-B09C-5769-2D11-5EC2E0DDABC2}"/>
              </a:ext>
            </a:extLst>
          </p:cNvPr>
          <p:cNvCxnSpPr>
            <a:cxnSpLocks/>
          </p:cNvCxnSpPr>
          <p:nvPr/>
        </p:nvCxnSpPr>
        <p:spPr>
          <a:xfrm>
            <a:off x="4515750" y="5603418"/>
            <a:ext cx="287829" cy="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88">
            <a:extLst>
              <a:ext uri="{FF2B5EF4-FFF2-40B4-BE49-F238E27FC236}">
                <a16:creationId xmlns:a16="http://schemas.microsoft.com/office/drawing/2014/main" id="{31EC1C69-D9E9-75DC-5ED6-86C35C137925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4528419" y="4895548"/>
            <a:ext cx="299341" cy="18103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93">
            <a:extLst>
              <a:ext uri="{FF2B5EF4-FFF2-40B4-BE49-F238E27FC236}">
                <a16:creationId xmlns:a16="http://schemas.microsoft.com/office/drawing/2014/main" id="{89D22DA8-E7E3-D914-AFF3-F4E35DC0AB8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86673" y="5218959"/>
            <a:ext cx="388522" cy="380396"/>
          </a:xfrm>
          <a:prstGeom prst="bentConnector3">
            <a:avLst>
              <a:gd name="adj1" fmla="val 6103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C20206A-5FE6-9B1B-C54D-FB69E91C8708}"/>
              </a:ext>
            </a:extLst>
          </p:cNvPr>
          <p:cNvGrpSpPr/>
          <p:nvPr/>
        </p:nvGrpSpPr>
        <p:grpSpPr>
          <a:xfrm>
            <a:off x="4839506" y="5256489"/>
            <a:ext cx="84040" cy="84183"/>
            <a:chOff x="4676079" y="5263333"/>
            <a:chExt cx="84040" cy="84183"/>
          </a:xfrm>
        </p:grpSpPr>
        <p:cxnSp>
          <p:nvCxnSpPr>
            <p:cNvPr id="30" name="直接连接符 102">
              <a:extLst>
                <a:ext uri="{FF2B5EF4-FFF2-40B4-BE49-F238E27FC236}">
                  <a16:creationId xmlns:a16="http://schemas.microsoft.com/office/drawing/2014/main" id="{E6D35A65-6F4B-5E67-387C-E6ACDF55241F}"/>
                </a:ext>
              </a:extLst>
            </p:cNvPr>
            <p:cNvCxnSpPr/>
            <p:nvPr/>
          </p:nvCxnSpPr>
          <p:spPr>
            <a:xfrm>
              <a:off x="4676079" y="5305425"/>
              <a:ext cx="840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103">
              <a:extLst>
                <a:ext uri="{FF2B5EF4-FFF2-40B4-BE49-F238E27FC236}">
                  <a16:creationId xmlns:a16="http://schemas.microsoft.com/office/drawing/2014/main" id="{E1ABFBBB-1E90-7FB6-7613-12DA724F8133}"/>
                </a:ext>
              </a:extLst>
            </p:cNvPr>
            <p:cNvCxnSpPr>
              <a:cxnSpLocks/>
            </p:cNvCxnSpPr>
            <p:nvPr/>
          </p:nvCxnSpPr>
          <p:spPr>
            <a:xfrm>
              <a:off x="4720481" y="5263333"/>
              <a:ext cx="0" cy="84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接连接符 104">
            <a:extLst>
              <a:ext uri="{FF2B5EF4-FFF2-40B4-BE49-F238E27FC236}">
                <a16:creationId xmlns:a16="http://schemas.microsoft.com/office/drawing/2014/main" id="{46D1457A-D3CC-6483-7D8D-39689BA40D7F}"/>
              </a:ext>
            </a:extLst>
          </p:cNvPr>
          <p:cNvCxnSpPr/>
          <p:nvPr/>
        </p:nvCxnSpPr>
        <p:spPr>
          <a:xfrm>
            <a:off x="4706191" y="4980976"/>
            <a:ext cx="840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105">
            <a:extLst>
              <a:ext uri="{FF2B5EF4-FFF2-40B4-BE49-F238E27FC236}">
                <a16:creationId xmlns:a16="http://schemas.microsoft.com/office/drawing/2014/main" id="{46B3C4E2-501E-1230-72CD-1070DFD02863}"/>
              </a:ext>
            </a:extLst>
          </p:cNvPr>
          <p:cNvCxnSpPr>
            <a:cxnSpLocks/>
            <a:stCxn id="17" idx="6"/>
            <a:endCxn id="16" idx="0"/>
          </p:cNvCxnSpPr>
          <p:nvPr/>
        </p:nvCxnSpPr>
        <p:spPr>
          <a:xfrm>
            <a:off x="5114503" y="5076587"/>
            <a:ext cx="1065126" cy="20207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120">
            <a:extLst>
              <a:ext uri="{FF2B5EF4-FFF2-40B4-BE49-F238E27FC236}">
                <a16:creationId xmlns:a16="http://schemas.microsoft.com/office/drawing/2014/main" id="{E12F465C-2EC9-1411-91F7-5A965CA41183}"/>
              </a:ext>
            </a:extLst>
          </p:cNvPr>
          <p:cNvCxnSpPr>
            <a:cxnSpLocks/>
            <a:stCxn id="16" idx="3"/>
            <a:endCxn id="10" idx="2"/>
          </p:cNvCxnSpPr>
          <p:nvPr/>
        </p:nvCxnSpPr>
        <p:spPr>
          <a:xfrm>
            <a:off x="6802255" y="5601823"/>
            <a:ext cx="773532" cy="42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124">
            <a:extLst>
              <a:ext uri="{FF2B5EF4-FFF2-40B4-BE49-F238E27FC236}">
                <a16:creationId xmlns:a16="http://schemas.microsoft.com/office/drawing/2014/main" id="{80EF8340-8328-7280-6125-2660D47937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559741" y="4896397"/>
            <a:ext cx="3168654" cy="57590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F5173DC-E518-93AF-96C5-1522B09B5D7F}"/>
              </a:ext>
            </a:extLst>
          </p:cNvPr>
          <p:cNvGrpSpPr/>
          <p:nvPr/>
        </p:nvGrpSpPr>
        <p:grpSpPr>
          <a:xfrm>
            <a:off x="7484533" y="5459258"/>
            <a:ext cx="84040" cy="84183"/>
            <a:chOff x="4676079" y="5263333"/>
            <a:chExt cx="84040" cy="84183"/>
          </a:xfrm>
        </p:grpSpPr>
        <p:cxnSp>
          <p:nvCxnSpPr>
            <p:cNvPr id="37" name="直接连接符 127">
              <a:extLst>
                <a:ext uri="{FF2B5EF4-FFF2-40B4-BE49-F238E27FC236}">
                  <a16:creationId xmlns:a16="http://schemas.microsoft.com/office/drawing/2014/main" id="{533CA27E-7617-FB51-A907-3CB36B353A08}"/>
                </a:ext>
              </a:extLst>
            </p:cNvPr>
            <p:cNvCxnSpPr/>
            <p:nvPr/>
          </p:nvCxnSpPr>
          <p:spPr>
            <a:xfrm>
              <a:off x="4676079" y="5305425"/>
              <a:ext cx="840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128">
              <a:extLst>
                <a:ext uri="{FF2B5EF4-FFF2-40B4-BE49-F238E27FC236}">
                  <a16:creationId xmlns:a16="http://schemas.microsoft.com/office/drawing/2014/main" id="{B489CD9A-3B0D-931E-17CA-5D198A5244F2}"/>
                </a:ext>
              </a:extLst>
            </p:cNvPr>
            <p:cNvCxnSpPr>
              <a:cxnSpLocks/>
            </p:cNvCxnSpPr>
            <p:nvPr/>
          </p:nvCxnSpPr>
          <p:spPr>
            <a:xfrm>
              <a:off x="4720481" y="5263333"/>
              <a:ext cx="0" cy="84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24AA157-5886-4318-E1BB-1CF9B0B85E22}"/>
              </a:ext>
            </a:extLst>
          </p:cNvPr>
          <p:cNvGrpSpPr/>
          <p:nvPr/>
        </p:nvGrpSpPr>
        <p:grpSpPr>
          <a:xfrm>
            <a:off x="7604034" y="5316988"/>
            <a:ext cx="84040" cy="84183"/>
            <a:chOff x="4676079" y="5263333"/>
            <a:chExt cx="84040" cy="84183"/>
          </a:xfrm>
        </p:grpSpPr>
        <p:cxnSp>
          <p:nvCxnSpPr>
            <p:cNvPr id="40" name="直接连接符 130">
              <a:extLst>
                <a:ext uri="{FF2B5EF4-FFF2-40B4-BE49-F238E27FC236}">
                  <a16:creationId xmlns:a16="http://schemas.microsoft.com/office/drawing/2014/main" id="{9C7B0B8B-5786-F952-197A-0146BF13FBE0}"/>
                </a:ext>
              </a:extLst>
            </p:cNvPr>
            <p:cNvCxnSpPr/>
            <p:nvPr/>
          </p:nvCxnSpPr>
          <p:spPr>
            <a:xfrm>
              <a:off x="4676079" y="5305425"/>
              <a:ext cx="840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131">
              <a:extLst>
                <a:ext uri="{FF2B5EF4-FFF2-40B4-BE49-F238E27FC236}">
                  <a16:creationId xmlns:a16="http://schemas.microsoft.com/office/drawing/2014/main" id="{F68028B4-9CCC-E009-1D47-6F082C1AE28B}"/>
                </a:ext>
              </a:extLst>
            </p:cNvPr>
            <p:cNvCxnSpPr>
              <a:cxnSpLocks/>
            </p:cNvCxnSpPr>
            <p:nvPr/>
          </p:nvCxnSpPr>
          <p:spPr>
            <a:xfrm>
              <a:off x="4720481" y="5263333"/>
              <a:ext cx="0" cy="84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箭头连接符 132">
            <a:extLst>
              <a:ext uri="{FF2B5EF4-FFF2-40B4-BE49-F238E27FC236}">
                <a16:creationId xmlns:a16="http://schemas.microsoft.com/office/drawing/2014/main" id="{6BA6DBE6-4D4B-1C30-8245-2FA1A8EE28DA}"/>
              </a:ext>
            </a:extLst>
          </p:cNvPr>
          <p:cNvCxnSpPr>
            <a:cxnSpLocks/>
          </p:cNvCxnSpPr>
          <p:nvPr/>
        </p:nvCxnSpPr>
        <p:spPr>
          <a:xfrm flipV="1">
            <a:off x="7862987" y="5603418"/>
            <a:ext cx="716278" cy="18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: 圆角 134">
            <a:extLst>
              <a:ext uri="{FF2B5EF4-FFF2-40B4-BE49-F238E27FC236}">
                <a16:creationId xmlns:a16="http://schemas.microsoft.com/office/drawing/2014/main" id="{A22A00A3-8E1F-3B98-6133-EEB598741B1E}"/>
              </a:ext>
            </a:extLst>
          </p:cNvPr>
          <p:cNvSpPr/>
          <p:nvPr/>
        </p:nvSpPr>
        <p:spPr>
          <a:xfrm>
            <a:off x="9533740" y="5534898"/>
            <a:ext cx="2468855" cy="110548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: 圆角 135">
            <a:extLst>
              <a:ext uri="{FF2B5EF4-FFF2-40B4-BE49-F238E27FC236}">
                <a16:creationId xmlns:a16="http://schemas.microsoft.com/office/drawing/2014/main" id="{72D080BB-28C0-4450-DEF7-814281A2DB46}"/>
              </a:ext>
            </a:extLst>
          </p:cNvPr>
          <p:cNvSpPr/>
          <p:nvPr/>
        </p:nvSpPr>
        <p:spPr>
          <a:xfrm>
            <a:off x="9891271" y="5474231"/>
            <a:ext cx="1780069" cy="532537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输出值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B3CB896-D954-A581-EC27-3FBBB48C20C0}"/>
              </a:ext>
            </a:extLst>
          </p:cNvPr>
          <p:cNvSpPr txBox="1"/>
          <p:nvPr/>
        </p:nvSpPr>
        <p:spPr>
          <a:xfrm>
            <a:off x="9591081" y="5877029"/>
            <a:ext cx="2354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第二轴电机制动力矩</a:t>
            </a:r>
          </a:p>
        </p:txBody>
      </p:sp>
      <p:cxnSp>
        <p:nvCxnSpPr>
          <p:cNvPr id="46" name="直接箭头连接符 138">
            <a:extLst>
              <a:ext uri="{FF2B5EF4-FFF2-40B4-BE49-F238E27FC236}">
                <a16:creationId xmlns:a16="http://schemas.microsoft.com/office/drawing/2014/main" id="{2547EE99-9AEF-CEF9-E1D0-678D20DC53C4}"/>
              </a:ext>
            </a:extLst>
          </p:cNvPr>
          <p:cNvCxnSpPr>
            <a:cxnSpLocks/>
          </p:cNvCxnSpPr>
          <p:nvPr/>
        </p:nvCxnSpPr>
        <p:spPr>
          <a:xfrm>
            <a:off x="5632198" y="3791522"/>
            <a:ext cx="0" cy="2264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144">
            <a:extLst>
              <a:ext uri="{FF2B5EF4-FFF2-40B4-BE49-F238E27FC236}">
                <a16:creationId xmlns:a16="http://schemas.microsoft.com/office/drawing/2014/main" id="{0811C517-A9F2-EF80-25CC-06C6E24A203E}"/>
              </a:ext>
            </a:extLst>
          </p:cNvPr>
          <p:cNvCxnSpPr>
            <a:cxnSpLocks/>
          </p:cNvCxnSpPr>
          <p:nvPr/>
        </p:nvCxnSpPr>
        <p:spPr>
          <a:xfrm>
            <a:off x="3106514" y="3171768"/>
            <a:ext cx="5713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45">
            <a:extLst>
              <a:ext uri="{FF2B5EF4-FFF2-40B4-BE49-F238E27FC236}">
                <a16:creationId xmlns:a16="http://schemas.microsoft.com/office/drawing/2014/main" id="{865563B9-9449-6735-899B-EFC42925F273}"/>
              </a:ext>
            </a:extLst>
          </p:cNvPr>
          <p:cNvCxnSpPr>
            <a:cxnSpLocks/>
          </p:cNvCxnSpPr>
          <p:nvPr/>
        </p:nvCxnSpPr>
        <p:spPr>
          <a:xfrm flipV="1">
            <a:off x="8787393" y="6107967"/>
            <a:ext cx="716278" cy="1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4A3F9CA0-2311-8BD8-5B6C-7A4F3BBBA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25"/>
          <a:stretch>
            <a:fillRect/>
          </a:stretch>
        </p:blipFill>
        <p:spPr>
          <a:xfrm>
            <a:off x="9112147" y="3118236"/>
            <a:ext cx="2881536" cy="2185128"/>
          </a:xfrm>
          <a:prstGeom prst="rect">
            <a:avLst/>
          </a:prstGeom>
        </p:spPr>
      </p:pic>
      <p:sp>
        <p:nvSpPr>
          <p:cNvPr id="56" name="矩形: 圆角 148">
            <a:extLst>
              <a:ext uri="{FF2B5EF4-FFF2-40B4-BE49-F238E27FC236}">
                <a16:creationId xmlns:a16="http://schemas.microsoft.com/office/drawing/2014/main" id="{B27CAC20-8AA6-660D-C73D-AC321248C9A8}"/>
              </a:ext>
            </a:extLst>
          </p:cNvPr>
          <p:cNvSpPr/>
          <p:nvPr/>
        </p:nvSpPr>
        <p:spPr>
          <a:xfrm>
            <a:off x="9121058" y="2612050"/>
            <a:ext cx="2881537" cy="269131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: 圆角 149">
            <a:extLst>
              <a:ext uri="{FF2B5EF4-FFF2-40B4-BE49-F238E27FC236}">
                <a16:creationId xmlns:a16="http://schemas.microsoft.com/office/drawing/2014/main" id="{73F959B0-8D24-9FA5-EC26-1AA0DB8199C4}"/>
              </a:ext>
            </a:extLst>
          </p:cNvPr>
          <p:cNvSpPr/>
          <p:nvPr/>
        </p:nvSpPr>
        <p:spPr>
          <a:xfrm>
            <a:off x="9639511" y="2685937"/>
            <a:ext cx="1844629" cy="324071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ECE</a:t>
            </a:r>
            <a:r>
              <a:rPr lang="zh-CN" altLang="en-US" b="1" dirty="0">
                <a:solidFill>
                  <a:schemeClr val="tx1"/>
                </a:solidFill>
              </a:rPr>
              <a:t>制动法规线</a:t>
            </a:r>
          </a:p>
        </p:txBody>
      </p:sp>
      <p:cxnSp>
        <p:nvCxnSpPr>
          <p:cNvPr id="58" name="直接箭头连接符 150">
            <a:extLst>
              <a:ext uri="{FF2B5EF4-FFF2-40B4-BE49-F238E27FC236}">
                <a16:creationId xmlns:a16="http://schemas.microsoft.com/office/drawing/2014/main" id="{4E87DF33-42B1-23F0-D3D7-8FDBE53A0678}"/>
              </a:ext>
            </a:extLst>
          </p:cNvPr>
          <p:cNvCxnSpPr>
            <a:cxnSpLocks/>
          </p:cNvCxnSpPr>
          <p:nvPr/>
        </p:nvCxnSpPr>
        <p:spPr>
          <a:xfrm flipH="1">
            <a:off x="8757323" y="3654327"/>
            <a:ext cx="3548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F42FD6E-884C-3BAE-4DB3-D8EDC01BC83D}"/>
              </a:ext>
            </a:extLst>
          </p:cNvPr>
          <p:cNvSpPr txBox="1"/>
          <p:nvPr/>
        </p:nvSpPr>
        <p:spPr>
          <a:xfrm>
            <a:off x="406398" y="1365639"/>
            <a:ext cx="1108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方案</a:t>
            </a:r>
            <a:r>
              <a:rPr lang="zh-CN" altLang="en-US" dirty="0"/>
              <a:t>：基于规则的前后轴力矩分配，并使用电机力矩补偿气压制动力矩，优化车辆制动响应时间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0A7D68B-40C0-61B4-8538-A87371E18E7D}"/>
              </a:ext>
            </a:extLst>
          </p:cNvPr>
          <p:cNvSpPr txBox="1"/>
          <p:nvPr/>
        </p:nvSpPr>
        <p:spPr>
          <a:xfrm>
            <a:off x="406398" y="1798732"/>
            <a:ext cx="11088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此功能要求</a:t>
            </a:r>
            <a:r>
              <a:rPr lang="en-US" altLang="zh-CN" dirty="0"/>
              <a:t>EBS</a:t>
            </a:r>
            <a:r>
              <a:rPr lang="zh-CN" altLang="en-US" dirty="0"/>
              <a:t>系统开放接口：制动时</a:t>
            </a:r>
            <a:r>
              <a:rPr lang="en-US" altLang="zh-CN" dirty="0"/>
              <a:t>EBS</a:t>
            </a:r>
            <a:r>
              <a:rPr lang="zh-CN" altLang="en-US" dirty="0"/>
              <a:t>输出的</a:t>
            </a:r>
            <a:r>
              <a:rPr lang="zh-CN" altLang="en-US" b="1" dirty="0"/>
              <a:t>第二轴</a:t>
            </a:r>
            <a:r>
              <a:rPr lang="zh-CN" altLang="en-US" dirty="0"/>
              <a:t>，</a:t>
            </a:r>
            <a:r>
              <a:rPr lang="zh-CN" altLang="en-US" b="1" dirty="0"/>
              <a:t>第三轴通道压力</a:t>
            </a:r>
            <a:r>
              <a:rPr lang="zh-CN" altLang="en-US" dirty="0"/>
              <a:t>，用于求解电机制动所需制动力矩；</a:t>
            </a:r>
            <a:r>
              <a:rPr lang="en-US" altLang="zh-CN" dirty="0"/>
              <a:t>EBS</a:t>
            </a:r>
            <a:r>
              <a:rPr lang="zh-CN" altLang="en-US" dirty="0"/>
              <a:t>的</a:t>
            </a:r>
            <a:r>
              <a:rPr lang="en-US" altLang="zh-CN" b="1" dirty="0"/>
              <a:t>ABS/ESP</a:t>
            </a:r>
            <a:r>
              <a:rPr lang="zh-CN" altLang="en-US" b="1" dirty="0"/>
              <a:t>激活标志</a:t>
            </a:r>
            <a:r>
              <a:rPr lang="zh-CN" altLang="en-US" dirty="0"/>
              <a:t>，用于判断制动系统是否使能，仲裁该部分功能开闭情况。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002DEE2-44FE-A1EC-D389-9E8C030AA749}"/>
              </a:ext>
            </a:extLst>
          </p:cNvPr>
          <p:cNvGrpSpPr/>
          <p:nvPr/>
        </p:nvGrpSpPr>
        <p:grpSpPr>
          <a:xfrm>
            <a:off x="484138" y="2519412"/>
            <a:ext cx="2645660" cy="3759337"/>
            <a:chOff x="369138" y="2950759"/>
            <a:chExt cx="2004399" cy="3206207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FEF017FF-7CA6-81F4-60E2-38CC2D52A69E}"/>
                </a:ext>
              </a:extLst>
            </p:cNvPr>
            <p:cNvGrpSpPr/>
            <p:nvPr/>
          </p:nvGrpSpPr>
          <p:grpSpPr>
            <a:xfrm>
              <a:off x="369138" y="3017389"/>
              <a:ext cx="2004399" cy="3139577"/>
              <a:chOff x="594706" y="2128595"/>
              <a:chExt cx="2030888" cy="1824811"/>
            </a:xfrm>
            <a:noFill/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A76CA580-EDAA-D160-5B59-14BC2831C5EB}"/>
                  </a:ext>
                </a:extLst>
              </p:cNvPr>
              <p:cNvSpPr/>
              <p:nvPr/>
            </p:nvSpPr>
            <p:spPr>
              <a:xfrm>
                <a:off x="710477" y="2356436"/>
                <a:ext cx="1786305" cy="848622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矩形: 圆角 35">
                <a:extLst>
                  <a:ext uri="{FF2B5EF4-FFF2-40B4-BE49-F238E27FC236}">
                    <a16:creationId xmlns:a16="http://schemas.microsoft.com/office/drawing/2014/main" id="{C082D768-B490-4E15-0866-E34B31E56B55}"/>
                  </a:ext>
                </a:extLst>
              </p:cNvPr>
              <p:cNvSpPr/>
              <p:nvPr/>
            </p:nvSpPr>
            <p:spPr>
              <a:xfrm>
                <a:off x="594706" y="2128595"/>
                <a:ext cx="2030888" cy="182481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44A0A64A-306A-AFE6-B9FC-9FB6627131CA}"/>
                  </a:ext>
                </a:extLst>
              </p:cNvPr>
              <p:cNvSpPr/>
              <p:nvPr/>
            </p:nvSpPr>
            <p:spPr>
              <a:xfrm>
                <a:off x="710477" y="3239560"/>
                <a:ext cx="1786305" cy="234892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期望制动力矩</a:t>
                </a: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C86A89F7-5677-3BF0-965F-FB5870038034}"/>
                  </a:ext>
                </a:extLst>
              </p:cNvPr>
              <p:cNvSpPr/>
              <p:nvPr/>
            </p:nvSpPr>
            <p:spPr>
              <a:xfrm>
                <a:off x="710478" y="3508952"/>
                <a:ext cx="1786305" cy="349922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rgbClr val="C00000"/>
                    </a:solidFill>
                  </a:rPr>
                  <a:t>第二轴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EBS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通路压力值</a:t>
                </a:r>
                <a:endParaRPr lang="en-US" altLang="zh-CN" sz="1600" b="1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zh-CN" altLang="en-US" sz="1600" b="1" dirty="0">
                    <a:solidFill>
                      <a:srgbClr val="C00000"/>
                    </a:solidFill>
                  </a:rPr>
                  <a:t>第三轴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EBS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通路压力值</a:t>
                </a:r>
                <a:endParaRPr lang="en-US" altLang="zh-CN" sz="1600" b="1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FF580C2-DF93-FDFC-0177-C4129463E65C}"/>
                </a:ext>
              </a:extLst>
            </p:cNvPr>
            <p:cNvSpPr/>
            <p:nvPr/>
          </p:nvSpPr>
          <p:spPr>
            <a:xfrm>
              <a:off x="910496" y="2950759"/>
              <a:ext cx="921682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输入值</a:t>
              </a: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11484BB-0634-E4C1-2ED9-B7E9B43DF4B7}"/>
                </a:ext>
              </a:extLst>
            </p:cNvPr>
            <p:cNvSpPr/>
            <p:nvPr/>
          </p:nvSpPr>
          <p:spPr>
            <a:xfrm>
              <a:off x="910496" y="3350028"/>
              <a:ext cx="921682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车辆参数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42D675A-A71B-D5E1-A530-425EBB552065}"/>
                </a:ext>
              </a:extLst>
            </p:cNvPr>
            <p:cNvSpPr/>
            <p:nvPr/>
          </p:nvSpPr>
          <p:spPr>
            <a:xfrm>
              <a:off x="449655" y="3592939"/>
              <a:ext cx="1796750" cy="127649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整车质量，各轴之间的距离，质心到第一轴的距离，车轮半径，电机外特性曲线，气压制动活塞缸面积</a:t>
              </a:r>
            </a:p>
          </p:txBody>
        </p:sp>
      </p:grpSp>
      <p:cxnSp>
        <p:nvCxnSpPr>
          <p:cNvPr id="70" name="直接箭头连接符 144">
            <a:extLst>
              <a:ext uri="{FF2B5EF4-FFF2-40B4-BE49-F238E27FC236}">
                <a16:creationId xmlns:a16="http://schemas.microsoft.com/office/drawing/2014/main" id="{DB3A176C-B310-9BC2-A5EA-440A41C44CBC}"/>
              </a:ext>
            </a:extLst>
          </p:cNvPr>
          <p:cNvCxnSpPr>
            <a:cxnSpLocks/>
          </p:cNvCxnSpPr>
          <p:nvPr/>
        </p:nvCxnSpPr>
        <p:spPr>
          <a:xfrm>
            <a:off x="3132785" y="5284451"/>
            <a:ext cx="5713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FFD889-CF25-ED5F-F2B1-302352518B28}"/>
              </a:ext>
            </a:extLst>
          </p:cNvPr>
          <p:cNvSpPr txBox="1"/>
          <p:nvPr/>
        </p:nvSpPr>
        <p:spPr>
          <a:xfrm>
            <a:off x="9591081" y="6216957"/>
            <a:ext cx="2354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第三轴电机制动力矩</a:t>
            </a:r>
          </a:p>
        </p:txBody>
      </p:sp>
      <p:sp>
        <p:nvSpPr>
          <p:cNvPr id="72" name="文本占位符 2">
            <a:extLst>
              <a:ext uri="{FF2B5EF4-FFF2-40B4-BE49-F238E27FC236}">
                <a16:creationId xmlns:a16="http://schemas.microsoft.com/office/drawing/2014/main" id="{C3C83E45-019D-A688-896A-13EFCCC8FAC2}"/>
              </a:ext>
            </a:extLst>
          </p:cNvPr>
          <p:cNvSpPr txBox="1"/>
          <p:nvPr/>
        </p:nvSpPr>
        <p:spPr>
          <a:xfrm>
            <a:off x="73024" y="760413"/>
            <a:ext cx="4929281" cy="53367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双桥基础电制动分配</a:t>
            </a:r>
          </a:p>
        </p:txBody>
      </p:sp>
    </p:spTree>
    <p:extLst>
      <p:ext uri="{BB962C8B-B14F-4D97-AF65-F5344CB8AC3E}">
        <p14:creationId xmlns:p14="http://schemas.microsoft.com/office/powerpoint/2010/main" val="378384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ED0A2-59F6-54C1-21D3-33754693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4CBFD-D65C-04E1-735A-57B104C53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3E12FC-B727-46EE-A3F4-36BAB21DAD93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8A307532-05F2-ABD6-DFB3-EF2235924A9E}"/>
              </a:ext>
            </a:extLst>
          </p:cNvPr>
          <p:cNvSpPr txBox="1"/>
          <p:nvPr/>
        </p:nvSpPr>
        <p:spPr>
          <a:xfrm>
            <a:off x="73024" y="760413"/>
            <a:ext cx="4929281" cy="5319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驱制动协调稳定性控制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FB3F824-EE6A-6DA3-E965-2F16045105D4}"/>
              </a:ext>
            </a:extLst>
          </p:cNvPr>
          <p:cNvSpPr txBox="1"/>
          <p:nvPr/>
        </p:nvSpPr>
        <p:spPr>
          <a:xfrm>
            <a:off x="293685" y="1989134"/>
            <a:ext cx="11604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itchFamily="2" charset="2"/>
              <a:buChar char="Ø"/>
              <a:defRPr/>
            </a:pPr>
            <a:r>
              <a:rPr lang="zh-CN" altLang="en-US" dirty="0"/>
              <a:t>此功能要求</a:t>
            </a:r>
            <a:r>
              <a:rPr lang="en-US" altLang="zh-CN" dirty="0"/>
              <a:t>EBS</a:t>
            </a:r>
            <a:r>
              <a:rPr lang="zh-CN" altLang="en-US" dirty="0"/>
              <a:t>系统开放接口：</a:t>
            </a:r>
            <a:r>
              <a:rPr lang="en-US" altLang="zh-CN" dirty="0"/>
              <a:t>VCU</a:t>
            </a:r>
            <a:r>
              <a:rPr lang="zh-CN" altLang="en-US" dirty="0"/>
              <a:t>需通过多个</a:t>
            </a:r>
            <a:r>
              <a:rPr lang="en-US" altLang="zh-CN" dirty="0"/>
              <a:t>EBS</a:t>
            </a:r>
            <a:r>
              <a:rPr lang="zh-CN" altLang="en-US" dirty="0"/>
              <a:t>制动通道产生左右差动制动力矩，需要开放的接口包括</a:t>
            </a:r>
            <a:r>
              <a:rPr lang="zh-CN" altLang="en-US" b="1" dirty="0"/>
              <a:t>通道压力接口（至少包括第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轴）</a:t>
            </a:r>
            <a:r>
              <a:rPr lang="zh-CN" altLang="en-US" dirty="0"/>
              <a:t>、</a:t>
            </a:r>
            <a:r>
              <a:rPr lang="en-US" altLang="zh-CN" dirty="0"/>
              <a:t>ABS/ESP</a:t>
            </a:r>
            <a:r>
              <a:rPr lang="zh-CN" altLang="en-US" dirty="0"/>
              <a:t>激活标志等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337D279-4305-7678-7067-53A3ECC2A9CB}"/>
              </a:ext>
            </a:extLst>
          </p:cNvPr>
          <p:cNvSpPr txBox="1"/>
          <p:nvPr/>
        </p:nvSpPr>
        <p:spPr>
          <a:xfrm>
            <a:off x="293685" y="1326644"/>
            <a:ext cx="11604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方案：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上层通过横摆角速度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PID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控制器，根据驾驶员转向输入和车辆实际横摆角速度计算附加横摆力矩；下层则进行驱制动协调转矩分配，根据上层给定附加横摆力矩，在双电驱桥与</a:t>
            </a: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EBS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系统之间协同分配驱动力和制动力矩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B4C6E69-30F8-7574-85BD-74BEED50F591}"/>
              </a:ext>
            </a:extLst>
          </p:cNvPr>
          <p:cNvGrpSpPr/>
          <p:nvPr/>
        </p:nvGrpSpPr>
        <p:grpSpPr>
          <a:xfrm>
            <a:off x="2138443" y="2721134"/>
            <a:ext cx="9701767" cy="3750568"/>
            <a:chOff x="888599" y="2777003"/>
            <a:chExt cx="10750123" cy="3750568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1BAA83B-75DD-131C-38DA-F84021B6C3FC}"/>
                </a:ext>
              </a:extLst>
            </p:cNvPr>
            <p:cNvSpPr/>
            <p:nvPr/>
          </p:nvSpPr>
          <p:spPr>
            <a:xfrm>
              <a:off x="5375462" y="4743854"/>
              <a:ext cx="957138" cy="523221"/>
            </a:xfrm>
            <a:prstGeom prst="rect">
              <a:avLst/>
            </a:prstGeom>
            <a:solidFill>
              <a:schemeClr val="accent4">
                <a:alpha val="3713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995D637-A55C-ACDF-EA5D-A30EC4DFA3E0}"/>
                </a:ext>
              </a:extLst>
            </p:cNvPr>
            <p:cNvSpPr/>
            <p:nvPr/>
          </p:nvSpPr>
          <p:spPr>
            <a:xfrm>
              <a:off x="1108312" y="2825634"/>
              <a:ext cx="1285101" cy="172310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D25EE79-4F22-D53B-7152-C5BC297138AD}"/>
                </a:ext>
              </a:extLst>
            </p:cNvPr>
            <p:cNvSpPr txBox="1"/>
            <p:nvPr/>
          </p:nvSpPr>
          <p:spPr>
            <a:xfrm>
              <a:off x="1268815" y="3502520"/>
              <a:ext cx="964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驾驶员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0038C28-CCCC-0A16-CF41-51605469401A}"/>
                </a:ext>
              </a:extLst>
            </p:cNvPr>
            <p:cNvSpPr/>
            <p:nvPr/>
          </p:nvSpPr>
          <p:spPr>
            <a:xfrm>
              <a:off x="3405503" y="4870586"/>
              <a:ext cx="1609287" cy="105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F477A2D1-4FE8-5EB0-2BD4-C1242C0332DD}"/>
                </a:ext>
              </a:extLst>
            </p:cNvPr>
            <p:cNvSpPr txBox="1"/>
            <p:nvPr/>
          </p:nvSpPr>
          <p:spPr>
            <a:xfrm>
              <a:off x="3855200" y="5211520"/>
              <a:ext cx="709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车辆</a:t>
              </a: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9D550E11-F00F-0F20-9C18-E54FAB6F61C9}"/>
                </a:ext>
              </a:extLst>
            </p:cNvPr>
            <p:cNvSpPr/>
            <p:nvPr/>
          </p:nvSpPr>
          <p:spPr>
            <a:xfrm>
              <a:off x="1105745" y="5813141"/>
              <a:ext cx="1285057" cy="646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B60470F-9808-1854-38EE-206A69695C0E}"/>
                </a:ext>
              </a:extLst>
            </p:cNvPr>
            <p:cNvSpPr txBox="1"/>
            <p:nvPr/>
          </p:nvSpPr>
          <p:spPr>
            <a:xfrm>
              <a:off x="1121174" y="5951640"/>
              <a:ext cx="1254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转矩映射</a:t>
              </a:r>
            </a:p>
          </p:txBody>
        </p:sp>
        <p:cxnSp>
          <p:nvCxnSpPr>
            <p:cNvPr id="77" name="直接箭头连接符 140">
              <a:extLst>
                <a:ext uri="{FF2B5EF4-FFF2-40B4-BE49-F238E27FC236}">
                  <a16:creationId xmlns:a16="http://schemas.microsoft.com/office/drawing/2014/main" id="{1E3C5C37-E238-0CAF-5DF9-65A3C679D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2599" y="5285833"/>
              <a:ext cx="1726441" cy="4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6120B306-3FF8-9C6E-6A14-869B20297A28}"/>
                </a:ext>
              </a:extLst>
            </p:cNvPr>
            <p:cNvSpPr txBox="1"/>
            <p:nvPr/>
          </p:nvSpPr>
          <p:spPr>
            <a:xfrm>
              <a:off x="5333936" y="4757069"/>
              <a:ext cx="10225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EBS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通道压力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直接箭头连接符 142">
              <a:extLst>
                <a:ext uri="{FF2B5EF4-FFF2-40B4-BE49-F238E27FC236}">
                  <a16:creationId xmlns:a16="http://schemas.microsoft.com/office/drawing/2014/main" id="{29398199-B3D6-8BB6-390E-5267D1BF3B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9170" y="6277266"/>
              <a:ext cx="437001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75A76D83-7F3C-C45E-D605-1D0F5A5D80B0}"/>
                </a:ext>
              </a:extLst>
            </p:cNvPr>
            <p:cNvSpPr txBox="1"/>
            <p:nvPr/>
          </p:nvSpPr>
          <p:spPr>
            <a:xfrm>
              <a:off x="5238648" y="6019271"/>
              <a:ext cx="13692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总需求转矩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1" name="直接箭头连接符 144">
              <a:extLst>
                <a:ext uri="{FF2B5EF4-FFF2-40B4-BE49-F238E27FC236}">
                  <a16:creationId xmlns:a16="http://schemas.microsoft.com/office/drawing/2014/main" id="{1F9DB28D-E40D-27BE-562A-8100C3CD4FF0}"/>
                </a:ext>
              </a:extLst>
            </p:cNvPr>
            <p:cNvCxnSpPr>
              <a:cxnSpLocks/>
              <a:stCxn id="73" idx="0"/>
              <a:endCxn id="87" idx="2"/>
            </p:cNvCxnSpPr>
            <p:nvPr/>
          </p:nvCxnSpPr>
          <p:spPr>
            <a:xfrm flipV="1">
              <a:off x="4210146" y="3884717"/>
              <a:ext cx="0" cy="98586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B42B0895-4BEC-87C2-955F-331351E93D2F}"/>
                </a:ext>
              </a:extLst>
            </p:cNvPr>
            <p:cNvSpPr txBox="1"/>
            <p:nvPr/>
          </p:nvSpPr>
          <p:spPr>
            <a:xfrm>
              <a:off x="3657097" y="4171920"/>
              <a:ext cx="553048" cy="523220"/>
            </a:xfrm>
            <a:prstGeom prst="rect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车速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直接箭头连接符 146">
              <a:extLst>
                <a:ext uri="{FF2B5EF4-FFF2-40B4-BE49-F238E27FC236}">
                  <a16:creationId xmlns:a16="http://schemas.microsoft.com/office/drawing/2014/main" id="{7904A9A6-A167-AAA0-9D54-8C9516D9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565091" y="4005499"/>
              <a:ext cx="21761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E7135538-5777-D2CB-3D44-FA590CEE64AE}"/>
                </a:ext>
              </a:extLst>
            </p:cNvPr>
            <p:cNvSpPr txBox="1"/>
            <p:nvPr/>
          </p:nvSpPr>
          <p:spPr>
            <a:xfrm>
              <a:off x="5061798" y="3740787"/>
              <a:ext cx="1584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实际横摆角速度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5" name="直接箭头连接符 148">
              <a:extLst>
                <a:ext uri="{FF2B5EF4-FFF2-40B4-BE49-F238E27FC236}">
                  <a16:creationId xmlns:a16="http://schemas.microsoft.com/office/drawing/2014/main" id="{62A10916-6B5F-49C6-9898-DC4D0DFB923F}"/>
                </a:ext>
              </a:extLst>
            </p:cNvPr>
            <p:cNvCxnSpPr>
              <a:cxnSpLocks/>
            </p:cNvCxnSpPr>
            <p:nvPr/>
          </p:nvCxnSpPr>
          <p:spPr>
            <a:xfrm>
              <a:off x="2399170" y="3097201"/>
              <a:ext cx="100826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33E991B4-F7C8-59CF-B40F-39AA18D8B51E}"/>
                </a:ext>
              </a:extLst>
            </p:cNvPr>
            <p:cNvSpPr txBox="1"/>
            <p:nvPr/>
          </p:nvSpPr>
          <p:spPr>
            <a:xfrm>
              <a:off x="2390802" y="2777003"/>
              <a:ext cx="1016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转向指令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BF52524-251E-868F-FC38-F5B6CF6871AF}"/>
                </a:ext>
              </a:extLst>
            </p:cNvPr>
            <p:cNvSpPr/>
            <p:nvPr/>
          </p:nvSpPr>
          <p:spPr>
            <a:xfrm>
              <a:off x="3405503" y="2833517"/>
              <a:ext cx="1609287" cy="1051200"/>
            </a:xfrm>
            <a:prstGeom prst="rect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B426FC0C-E98E-95CB-8598-F42490D27586}"/>
                </a:ext>
              </a:extLst>
            </p:cNvPr>
            <p:cNvSpPr txBox="1"/>
            <p:nvPr/>
          </p:nvSpPr>
          <p:spPr>
            <a:xfrm>
              <a:off x="3417914" y="3044675"/>
              <a:ext cx="15844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期望横摆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角速度计算</a:t>
              </a:r>
            </a:p>
          </p:txBody>
        </p:sp>
        <p:cxnSp>
          <p:nvCxnSpPr>
            <p:cNvPr id="89" name="直接箭头连接符 151">
              <a:extLst>
                <a:ext uri="{FF2B5EF4-FFF2-40B4-BE49-F238E27FC236}">
                  <a16:creationId xmlns:a16="http://schemas.microsoft.com/office/drawing/2014/main" id="{3066944D-ADF5-2494-F047-60B207FC0953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V="1">
              <a:off x="5002378" y="3367840"/>
              <a:ext cx="1728125" cy="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530A014-76D3-0DA1-24FE-74EEDCFA67AB}"/>
                </a:ext>
              </a:extLst>
            </p:cNvPr>
            <p:cNvSpPr txBox="1"/>
            <p:nvPr/>
          </p:nvSpPr>
          <p:spPr>
            <a:xfrm>
              <a:off x="5138954" y="3045834"/>
              <a:ext cx="1584466" cy="307777"/>
            </a:xfrm>
            <a:prstGeom prst="rect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期望横摆角速度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39230B7-2F84-1650-7827-CBE3472F7599}"/>
                </a:ext>
              </a:extLst>
            </p:cNvPr>
            <p:cNvSpPr/>
            <p:nvPr/>
          </p:nvSpPr>
          <p:spPr>
            <a:xfrm>
              <a:off x="6741230" y="2825634"/>
              <a:ext cx="1608927" cy="14293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C460F7EC-BA65-38F8-132C-2C6E8CA08FB5}"/>
                </a:ext>
              </a:extLst>
            </p:cNvPr>
            <p:cNvSpPr txBox="1"/>
            <p:nvPr/>
          </p:nvSpPr>
          <p:spPr>
            <a:xfrm>
              <a:off x="6840775" y="3050816"/>
              <a:ext cx="147048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上层：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横摆角速度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</a:p>
          </p:txBody>
        </p:sp>
        <p:cxnSp>
          <p:nvCxnSpPr>
            <p:cNvPr id="93" name="直接箭头连接符 154">
              <a:extLst>
                <a:ext uri="{FF2B5EF4-FFF2-40B4-BE49-F238E27FC236}">
                  <a16:creationId xmlns:a16="http://schemas.microsoft.com/office/drawing/2014/main" id="{063315DE-FE42-020A-63B6-E191463A4140}"/>
                </a:ext>
              </a:extLst>
            </p:cNvPr>
            <p:cNvCxnSpPr>
              <a:cxnSpLocks/>
              <a:stCxn id="91" idx="2"/>
              <a:endCxn id="95" idx="0"/>
            </p:cNvCxnSpPr>
            <p:nvPr/>
          </p:nvCxnSpPr>
          <p:spPr>
            <a:xfrm>
              <a:off x="7545695" y="4255033"/>
              <a:ext cx="0" cy="832941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25680E09-D0CC-12C2-EFB4-69C1A7B474F1}"/>
                </a:ext>
              </a:extLst>
            </p:cNvPr>
            <p:cNvSpPr txBox="1"/>
            <p:nvPr/>
          </p:nvSpPr>
          <p:spPr>
            <a:xfrm>
              <a:off x="6966344" y="4221263"/>
              <a:ext cx="62940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附加横摆力矩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1131955-56E1-02F5-682B-43C3542C438E}"/>
                </a:ext>
              </a:extLst>
            </p:cNvPr>
            <p:cNvSpPr/>
            <p:nvPr/>
          </p:nvSpPr>
          <p:spPr>
            <a:xfrm>
              <a:off x="6776851" y="5087974"/>
              <a:ext cx="1608927" cy="14294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9929EE01-322D-EC25-880C-0B2D986F77F7}"/>
                </a:ext>
              </a:extLst>
            </p:cNvPr>
            <p:cNvSpPr txBox="1"/>
            <p:nvPr/>
          </p:nvSpPr>
          <p:spPr>
            <a:xfrm>
              <a:off x="6860503" y="5341009"/>
              <a:ext cx="147048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下层：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驱制动协同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转矩分配</a:t>
              </a:r>
            </a:p>
          </p:txBody>
        </p:sp>
        <p:cxnSp>
          <p:nvCxnSpPr>
            <p:cNvPr id="97" name="直接箭头连接符 157">
              <a:extLst>
                <a:ext uri="{FF2B5EF4-FFF2-40B4-BE49-F238E27FC236}">
                  <a16:creationId xmlns:a16="http://schemas.microsoft.com/office/drawing/2014/main" id="{BF4CD764-B26A-D81A-715A-9D0024862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5091" y="4005499"/>
              <a:ext cx="0" cy="86508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158">
              <a:extLst>
                <a:ext uri="{FF2B5EF4-FFF2-40B4-BE49-F238E27FC236}">
                  <a16:creationId xmlns:a16="http://schemas.microsoft.com/office/drawing/2014/main" id="{7381BAED-4D43-8EAD-0795-BE0EB3DBD512}"/>
                </a:ext>
              </a:extLst>
            </p:cNvPr>
            <p:cNvCxnSpPr>
              <a:cxnSpLocks/>
            </p:cNvCxnSpPr>
            <p:nvPr/>
          </p:nvCxnSpPr>
          <p:spPr>
            <a:xfrm>
              <a:off x="1441647" y="4548738"/>
              <a:ext cx="0" cy="126440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159">
              <a:extLst>
                <a:ext uri="{FF2B5EF4-FFF2-40B4-BE49-F238E27FC236}">
                  <a16:creationId xmlns:a16="http://schemas.microsoft.com/office/drawing/2014/main" id="{155992E5-925C-6727-22EC-C53979D3FD34}"/>
                </a:ext>
              </a:extLst>
            </p:cNvPr>
            <p:cNvCxnSpPr>
              <a:cxnSpLocks/>
            </p:cNvCxnSpPr>
            <p:nvPr/>
          </p:nvCxnSpPr>
          <p:spPr>
            <a:xfrm>
              <a:off x="2073397" y="4548738"/>
              <a:ext cx="0" cy="126440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E9C15B-A3B1-CEA0-2854-59114BE887B7}"/>
                </a:ext>
              </a:extLst>
            </p:cNvPr>
            <p:cNvSpPr txBox="1"/>
            <p:nvPr/>
          </p:nvSpPr>
          <p:spPr>
            <a:xfrm>
              <a:off x="888599" y="4659201"/>
              <a:ext cx="553048" cy="954107"/>
            </a:xfrm>
            <a:prstGeom prst="rect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油门指令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DA4611FE-F37B-186C-DB8B-E3401CAD0226}"/>
                </a:ext>
              </a:extLst>
            </p:cNvPr>
            <p:cNvSpPr txBox="1"/>
            <p:nvPr/>
          </p:nvSpPr>
          <p:spPr>
            <a:xfrm>
              <a:off x="1573650" y="4641933"/>
              <a:ext cx="553048" cy="954107"/>
            </a:xfrm>
            <a:prstGeom prst="rect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制动指令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" name="直接箭头连接符 162">
              <a:extLst>
                <a:ext uri="{FF2B5EF4-FFF2-40B4-BE49-F238E27FC236}">
                  <a16:creationId xmlns:a16="http://schemas.microsoft.com/office/drawing/2014/main" id="{48334E79-8EA8-65BA-3F7D-1463913D6D43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>
              <a:off x="5032599" y="5802674"/>
              <a:ext cx="1744252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53A427DB-0856-40C5-8E79-BE3338440E52}"/>
                </a:ext>
              </a:extLst>
            </p:cNvPr>
            <p:cNvSpPr txBox="1"/>
            <p:nvPr/>
          </p:nvSpPr>
          <p:spPr>
            <a:xfrm>
              <a:off x="5230509" y="5533754"/>
              <a:ext cx="13860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六轮垂向载荷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F0AE48D-F6AA-A8AA-98E6-3CBA96F23587}"/>
                </a:ext>
              </a:extLst>
            </p:cNvPr>
            <p:cNvSpPr/>
            <p:nvPr/>
          </p:nvSpPr>
          <p:spPr>
            <a:xfrm>
              <a:off x="9009149" y="2815434"/>
              <a:ext cx="2629573" cy="371213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5DE87391-662E-30F2-D75F-E63B67FBA3D0}"/>
                </a:ext>
              </a:extLst>
            </p:cNvPr>
            <p:cNvSpPr/>
            <p:nvPr/>
          </p:nvSpPr>
          <p:spPr>
            <a:xfrm>
              <a:off x="9224449" y="3066727"/>
              <a:ext cx="2226422" cy="1188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F21C724E-20A1-E737-02F9-BDA93B7100C4}"/>
                </a:ext>
              </a:extLst>
            </p:cNvPr>
            <p:cNvSpPr txBox="1"/>
            <p:nvPr/>
          </p:nvSpPr>
          <p:spPr>
            <a:xfrm>
              <a:off x="9260070" y="3140385"/>
              <a:ext cx="22264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驱动模式：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保证充足动力的同时利用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EBS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和电驱桥的协调提供附加横摆力矩</a:t>
              </a: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C15F201A-B304-B0AC-4C2C-9EC7967E6B1E}"/>
                </a:ext>
              </a:extLst>
            </p:cNvPr>
            <p:cNvSpPr/>
            <p:nvPr/>
          </p:nvSpPr>
          <p:spPr>
            <a:xfrm>
              <a:off x="9224120" y="5208674"/>
              <a:ext cx="2226421" cy="1188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CFA0D52D-8937-E27A-2200-59EC7EE91B25}"/>
                </a:ext>
              </a:extLst>
            </p:cNvPr>
            <p:cNvSpPr txBox="1"/>
            <p:nvPr/>
          </p:nvSpPr>
          <p:spPr>
            <a:xfrm>
              <a:off x="9260070" y="5343747"/>
              <a:ext cx="22264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制动模式：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EBS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进行制动辅以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保证制动高效稳定</a:t>
              </a:r>
            </a:p>
          </p:txBody>
        </p:sp>
        <p:cxnSp>
          <p:nvCxnSpPr>
            <p:cNvPr id="109" name="连接符: 肘形 16">
              <a:extLst>
                <a:ext uri="{FF2B5EF4-FFF2-40B4-BE49-F238E27FC236}">
                  <a16:creationId xmlns:a16="http://schemas.microsoft.com/office/drawing/2014/main" id="{B6AF74F7-E026-9E79-9BD5-797D549671A4}"/>
                </a:ext>
              </a:extLst>
            </p:cNvPr>
            <p:cNvCxnSpPr>
              <a:cxnSpLocks/>
              <a:stCxn id="95" idx="3"/>
              <a:endCxn id="105" idx="1"/>
            </p:cNvCxnSpPr>
            <p:nvPr/>
          </p:nvCxnSpPr>
          <p:spPr>
            <a:xfrm flipV="1">
              <a:off x="8385778" y="3660880"/>
              <a:ext cx="838671" cy="2141794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8">
              <a:extLst>
                <a:ext uri="{FF2B5EF4-FFF2-40B4-BE49-F238E27FC236}">
                  <a16:creationId xmlns:a16="http://schemas.microsoft.com/office/drawing/2014/main" id="{ACDB953E-AE19-72AB-DABB-372F1D54B45C}"/>
                </a:ext>
              </a:extLst>
            </p:cNvPr>
            <p:cNvCxnSpPr>
              <a:cxnSpLocks/>
              <a:stCxn id="95" idx="3"/>
              <a:endCxn id="107" idx="1"/>
            </p:cNvCxnSpPr>
            <p:nvPr/>
          </p:nvCxnSpPr>
          <p:spPr>
            <a:xfrm>
              <a:off x="8385778" y="5802674"/>
              <a:ext cx="83834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961EF023-17BF-7E59-5DC5-53AC0F88309B}"/>
                </a:ext>
              </a:extLst>
            </p:cNvPr>
            <p:cNvSpPr txBox="1"/>
            <p:nvPr/>
          </p:nvSpPr>
          <p:spPr>
            <a:xfrm>
              <a:off x="4958229" y="4439066"/>
              <a:ext cx="19193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制动压力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力矩标定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063F74B5-975F-3F40-B432-5B8277E636B5}"/>
              </a:ext>
            </a:extLst>
          </p:cNvPr>
          <p:cNvSpPr txBox="1"/>
          <p:nvPr/>
        </p:nvSpPr>
        <p:spPr>
          <a:xfrm>
            <a:off x="194680" y="2750364"/>
            <a:ext cx="21918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输入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前轮转角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总需求转矩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车速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轮速 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横摆角速度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电机反馈状态（转矩</a:t>
            </a:r>
            <a:r>
              <a:rPr lang="en-US" altLang="zh-CN" dirty="0"/>
              <a:t>/</a:t>
            </a:r>
            <a:r>
              <a:rPr lang="zh-CN" altLang="en-US" dirty="0"/>
              <a:t>转速）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输出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电驱桥驱动指令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气压制动指令</a:t>
            </a:r>
            <a:endParaRPr lang="en-US" altLang="zh-CN" dirty="0"/>
          </a:p>
        </p:txBody>
      </p:sp>
      <p:sp>
        <p:nvSpPr>
          <p:cNvPr id="113" name="标题 3">
            <a:extLst>
              <a:ext uri="{FF2B5EF4-FFF2-40B4-BE49-F238E27FC236}">
                <a16:creationId xmlns:a16="http://schemas.microsoft.com/office/drawing/2014/main" id="{D671FCE9-84AF-1C49-6E28-0FCFFE1FFE0D}"/>
              </a:ext>
            </a:extLst>
          </p:cNvPr>
          <p:cNvSpPr txBox="1">
            <a:spLocks/>
          </p:cNvSpPr>
          <p:nvPr/>
        </p:nvSpPr>
        <p:spPr>
          <a:xfrm>
            <a:off x="406398" y="88727"/>
            <a:ext cx="9575801" cy="542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1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涉及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EBS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112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C168D-BC00-8B1A-77CE-A8FD4CD4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956BFA-3497-9509-EB18-BB6DED48B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3E12FC-B727-46EE-A3F4-36BAB21DAD93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3">
            <a:extLst>
              <a:ext uri="{FF2B5EF4-FFF2-40B4-BE49-F238E27FC236}">
                <a16:creationId xmlns:a16="http://schemas.microsoft.com/office/drawing/2014/main" id="{2615BA9F-A86A-254F-AE97-F2CBE546BF74}"/>
              </a:ext>
            </a:extLst>
          </p:cNvPr>
          <p:cNvSpPr txBox="1">
            <a:spLocks/>
          </p:cNvSpPr>
          <p:nvPr/>
        </p:nvSpPr>
        <p:spPr>
          <a:xfrm>
            <a:off x="406398" y="88727"/>
            <a:ext cx="9575801" cy="542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1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涉及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EBS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48" name="文本占位符 2">
            <a:extLst>
              <a:ext uri="{FF2B5EF4-FFF2-40B4-BE49-F238E27FC236}">
                <a16:creationId xmlns:a16="http://schemas.microsoft.com/office/drawing/2014/main" id="{386BBA64-E447-C283-4866-CB57C11DEF9A}"/>
              </a:ext>
            </a:extLst>
          </p:cNvPr>
          <p:cNvSpPr txBox="1"/>
          <p:nvPr/>
        </p:nvSpPr>
        <p:spPr>
          <a:xfrm>
            <a:off x="73024" y="760413"/>
            <a:ext cx="4929281" cy="53367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主挂解耦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1E8ABD4-A236-FC6B-F3B6-2D9398A3AF2E}"/>
              </a:ext>
            </a:extLst>
          </p:cNvPr>
          <p:cNvSpPr txBox="1"/>
          <p:nvPr/>
        </p:nvSpPr>
        <p:spPr>
          <a:xfrm>
            <a:off x="208177" y="1342571"/>
            <a:ext cx="11511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方案</a:t>
            </a:r>
            <a:r>
              <a:rPr lang="zh-CN" altLang="en-US" dirty="0"/>
              <a:t>：基于动态轴荷计算初始制动力，并根据转移比例将挂车制动力解耦，重新分配给牵引车的电机制动系统，实现回收更多的能量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CB7E231-91C3-08A3-2CA3-E9F4C637E374}"/>
              </a:ext>
            </a:extLst>
          </p:cNvPr>
          <p:cNvGrpSpPr/>
          <p:nvPr/>
        </p:nvGrpSpPr>
        <p:grpSpPr>
          <a:xfrm>
            <a:off x="2234594" y="2898301"/>
            <a:ext cx="9822786" cy="3491658"/>
            <a:chOff x="369138" y="3000582"/>
            <a:chExt cx="11625348" cy="316232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695B7553-2759-AB93-844C-1843A696F759}"/>
                </a:ext>
              </a:extLst>
            </p:cNvPr>
            <p:cNvGrpSpPr/>
            <p:nvPr/>
          </p:nvGrpSpPr>
          <p:grpSpPr>
            <a:xfrm>
              <a:off x="369138" y="3017389"/>
              <a:ext cx="2004399" cy="3139577"/>
              <a:chOff x="594706" y="2128595"/>
              <a:chExt cx="2030888" cy="1824811"/>
            </a:xfrm>
            <a:noFill/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8FDBC11-FC04-FD1A-BFEA-2F24C4840822}"/>
                  </a:ext>
                </a:extLst>
              </p:cNvPr>
              <p:cNvSpPr/>
              <p:nvPr/>
            </p:nvSpPr>
            <p:spPr>
              <a:xfrm>
                <a:off x="710477" y="2446053"/>
                <a:ext cx="1786305" cy="36864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车辆参数</a:t>
                </a:r>
              </a:p>
            </p:txBody>
          </p:sp>
          <p:sp>
            <p:nvSpPr>
              <p:cNvPr id="107" name="矩形: 圆角 35">
                <a:extLst>
                  <a:ext uri="{FF2B5EF4-FFF2-40B4-BE49-F238E27FC236}">
                    <a16:creationId xmlns:a16="http://schemas.microsoft.com/office/drawing/2014/main" id="{75BF7E6E-150E-D89E-3B16-6521C24C77C7}"/>
                  </a:ext>
                </a:extLst>
              </p:cNvPr>
              <p:cNvSpPr/>
              <p:nvPr/>
            </p:nvSpPr>
            <p:spPr>
              <a:xfrm>
                <a:off x="594706" y="2128595"/>
                <a:ext cx="2030888" cy="182481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D935FF94-A85A-6B43-6835-5C839083158E}"/>
                  </a:ext>
                </a:extLst>
              </p:cNvPr>
              <p:cNvSpPr/>
              <p:nvPr/>
            </p:nvSpPr>
            <p:spPr>
              <a:xfrm>
                <a:off x="710478" y="2996929"/>
                <a:ext cx="1786305" cy="34992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目标减速度</a:t>
                </a: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F8E46954-69FB-2E07-DD26-0FD8D8CFCC57}"/>
                  </a:ext>
                </a:extLst>
              </p:cNvPr>
              <p:cNvSpPr/>
              <p:nvPr/>
            </p:nvSpPr>
            <p:spPr>
              <a:xfrm>
                <a:off x="710478" y="3508952"/>
                <a:ext cx="1786305" cy="349922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制动力转移</a:t>
                </a:r>
                <a:br>
                  <a:rPr lang="en-US" altLang="zh-CN" sz="1600" dirty="0">
                    <a:solidFill>
                      <a:schemeClr val="tx1"/>
                    </a:solidFill>
                  </a:rPr>
                </a:br>
                <a:r>
                  <a:rPr lang="zh-CN" altLang="en-US" sz="1600" dirty="0">
                    <a:solidFill>
                      <a:schemeClr val="tx1"/>
                    </a:solidFill>
                  </a:rPr>
                  <a:t>比例</a:t>
                </a: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0FF269A-5431-91F4-9219-4961883C70F7}"/>
                </a:ext>
              </a:extLst>
            </p:cNvPr>
            <p:cNvGrpSpPr/>
            <p:nvPr/>
          </p:nvGrpSpPr>
          <p:grpSpPr>
            <a:xfrm>
              <a:off x="2566338" y="3000582"/>
              <a:ext cx="2148586" cy="3162326"/>
              <a:chOff x="2889924" y="2586972"/>
              <a:chExt cx="2279381" cy="3162326"/>
            </a:xfrm>
            <a:noFill/>
          </p:grpSpPr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5F9814BC-77A7-236C-4194-1C77063EAEAE}"/>
                  </a:ext>
                </a:extLst>
              </p:cNvPr>
              <p:cNvSpPr/>
              <p:nvPr/>
            </p:nvSpPr>
            <p:spPr>
              <a:xfrm>
                <a:off x="2889924" y="2586972"/>
                <a:ext cx="2279381" cy="186122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5FD83701-EFD3-3A89-58C7-98A64D41F249}"/>
                  </a:ext>
                </a:extLst>
              </p:cNvPr>
              <p:cNvSpPr/>
              <p:nvPr/>
            </p:nvSpPr>
            <p:spPr>
              <a:xfrm>
                <a:off x="2955838" y="2679606"/>
                <a:ext cx="2084134" cy="427890"/>
              </a:xfrm>
              <a:prstGeom prst="rect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</a:rPr>
                  <a:t>需求与轴荷计算</a:t>
                </a: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984E20A3-09EA-ADEF-537E-9AD744B93BDC}"/>
                  </a:ext>
                </a:extLst>
              </p:cNvPr>
              <p:cNvSpPr/>
              <p:nvPr/>
            </p:nvSpPr>
            <p:spPr>
              <a:xfrm>
                <a:off x="3026806" y="3149028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总制动力需求</a:t>
                </a: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06BC91D1-70A2-808C-DEB7-22069F9E2C6A}"/>
                  </a:ext>
                </a:extLst>
              </p:cNvPr>
              <p:cNvSpPr/>
              <p:nvPr/>
            </p:nvSpPr>
            <p:spPr>
              <a:xfrm>
                <a:off x="3026806" y="3561225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静态轴荷计算</a:t>
                </a:r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950624F6-A9B3-B5FE-F8B9-31B0B7CA21D9}"/>
                  </a:ext>
                </a:extLst>
              </p:cNvPr>
              <p:cNvSpPr/>
              <p:nvPr/>
            </p:nvSpPr>
            <p:spPr>
              <a:xfrm>
                <a:off x="3042813" y="3964766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制动轴荷转移</a:t>
                </a: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186C4D-F526-6A2F-9EE0-67E2D36E2551}"/>
                  </a:ext>
                </a:extLst>
              </p:cNvPr>
              <p:cNvSpPr/>
              <p:nvPr/>
            </p:nvSpPr>
            <p:spPr>
              <a:xfrm>
                <a:off x="2889924" y="4618085"/>
                <a:ext cx="2279381" cy="113121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7EF713B-74B1-DFB4-72EC-E35554FCC213}"/>
                  </a:ext>
                </a:extLst>
              </p:cNvPr>
              <p:cNvSpPr/>
              <p:nvPr/>
            </p:nvSpPr>
            <p:spPr>
              <a:xfrm>
                <a:off x="2955838" y="4670856"/>
                <a:ext cx="2047016" cy="399267"/>
              </a:xfrm>
              <a:prstGeom prst="rect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</a:rPr>
                  <a:t>初始制动力分配</a:t>
                </a: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33802956-8B39-162B-7F17-7868ADB23D94}"/>
                  </a:ext>
                </a:extLst>
              </p:cNvPr>
              <p:cNvSpPr/>
              <p:nvPr/>
            </p:nvSpPr>
            <p:spPr>
              <a:xfrm>
                <a:off x="3026806" y="5103935"/>
                <a:ext cx="1921330" cy="47547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根据动态轴荷分配</a:t>
                </a:r>
              </a:p>
            </p:txBody>
          </p:sp>
        </p:grp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863D7A3-4F0C-0B91-54DA-899553D21283}"/>
                </a:ext>
              </a:extLst>
            </p:cNvPr>
            <p:cNvSpPr/>
            <p:nvPr/>
          </p:nvSpPr>
          <p:spPr>
            <a:xfrm>
              <a:off x="398176" y="3098783"/>
              <a:ext cx="1889317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初始参数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A2BC71F-148D-5AF3-106D-678EEFE6133B}"/>
                </a:ext>
              </a:extLst>
            </p:cNvPr>
            <p:cNvSpPr/>
            <p:nvPr/>
          </p:nvSpPr>
          <p:spPr>
            <a:xfrm>
              <a:off x="5100650" y="3009454"/>
              <a:ext cx="2167355" cy="31395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01902AF9-A24B-84DE-A474-5C97F9BB04D0}"/>
                </a:ext>
              </a:extLst>
            </p:cNvPr>
            <p:cNvSpPr/>
            <p:nvPr/>
          </p:nvSpPr>
          <p:spPr>
            <a:xfrm>
              <a:off x="4926620" y="3093216"/>
              <a:ext cx="2510604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系统级制动力解算</a:t>
              </a: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7B38954D-671A-8324-FAF0-5C2AB1D0FCCE}"/>
                </a:ext>
              </a:extLst>
            </p:cNvPr>
            <p:cNvSpPr/>
            <p:nvPr/>
          </p:nvSpPr>
          <p:spPr>
            <a:xfrm>
              <a:off x="5240425" y="3642802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计算挂车转移量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B6EEECC3-7183-A3A8-B428-26178A4760C6}"/>
                </a:ext>
              </a:extLst>
            </p:cNvPr>
            <p:cNvSpPr/>
            <p:nvPr/>
          </p:nvSpPr>
          <p:spPr>
            <a:xfrm>
              <a:off x="5240425" y="4258658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挂车实际制动力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6DCE595A-5CAB-CAA8-8BA2-FDF1138190C1}"/>
                </a:ext>
              </a:extLst>
            </p:cNvPr>
            <p:cNvSpPr/>
            <p:nvPr/>
          </p:nvSpPr>
          <p:spPr>
            <a:xfrm>
              <a:off x="5240425" y="5571919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牵引车摩擦制动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FDFDC942-FEE8-ED46-7244-16232BDAFC28}"/>
                </a:ext>
              </a:extLst>
            </p:cNvPr>
            <p:cNvSpPr/>
            <p:nvPr/>
          </p:nvSpPr>
          <p:spPr>
            <a:xfrm>
              <a:off x="5240425" y="4910166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牵引车电机制动</a:t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713A2DF-D4D8-E0C6-C636-3C76CFCFAAB9}"/>
                </a:ext>
              </a:extLst>
            </p:cNvPr>
            <p:cNvSpPr/>
            <p:nvPr/>
          </p:nvSpPr>
          <p:spPr>
            <a:xfrm>
              <a:off x="7268007" y="3082894"/>
              <a:ext cx="2510604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车轮级制动力解算</a:t>
              </a: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F3AE3327-5527-EE7A-F57D-A291E6C91A30}"/>
                </a:ext>
              </a:extLst>
            </p:cNvPr>
            <p:cNvGrpSpPr/>
            <p:nvPr/>
          </p:nvGrpSpPr>
          <p:grpSpPr>
            <a:xfrm>
              <a:off x="7488153" y="3011957"/>
              <a:ext cx="2001932" cy="3139577"/>
              <a:chOff x="7918190" y="2629537"/>
              <a:chExt cx="2298830" cy="3139577"/>
            </a:xfrm>
            <a:noFill/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A06229E4-F625-61FA-6D12-29FC27CE779F}"/>
                  </a:ext>
                </a:extLst>
              </p:cNvPr>
              <p:cNvSpPr/>
              <p:nvPr/>
            </p:nvSpPr>
            <p:spPr>
              <a:xfrm>
                <a:off x="7918190" y="2629537"/>
                <a:ext cx="2298830" cy="3139577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B6B142B-42A4-DEBB-B463-DE11A33916E2}"/>
                  </a:ext>
                </a:extLst>
              </p:cNvPr>
              <p:cNvSpPr/>
              <p:nvPr/>
            </p:nvSpPr>
            <p:spPr>
              <a:xfrm>
                <a:off x="8146205" y="3236808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C00000"/>
                    </a:solidFill>
                  </a:rPr>
                  <a:t>EBS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通路</a:t>
                </a:r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B20E4EEE-4208-E83A-4ABD-411749F258A9}"/>
                  </a:ext>
                </a:extLst>
              </p:cNvPr>
              <p:cNvSpPr/>
              <p:nvPr/>
            </p:nvSpPr>
            <p:spPr>
              <a:xfrm>
                <a:off x="8146204" y="3864275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电机通路</a:t>
                </a: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86FF6124-02DA-9E62-AC8A-0298F2AF39B3}"/>
                  </a:ext>
                </a:extLst>
              </p:cNvPr>
              <p:cNvSpPr/>
              <p:nvPr/>
            </p:nvSpPr>
            <p:spPr>
              <a:xfrm>
                <a:off x="8146202" y="5177846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车轮制动扭矩</a:t>
                </a:r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CB8993EF-D6DF-1EE4-6486-2FC2CB51EDA7}"/>
                  </a:ext>
                </a:extLst>
              </p:cNvPr>
              <p:cNvSpPr/>
              <p:nvPr/>
            </p:nvSpPr>
            <p:spPr>
              <a:xfrm>
                <a:off x="8146203" y="4516093"/>
                <a:ext cx="1921329" cy="315219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左右轮分配</a:t>
                </a:r>
              </a:p>
            </p:txBody>
          </p:sp>
        </p:grp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D90A873E-F601-14E6-627C-69FD33BF75E6}"/>
                </a:ext>
              </a:extLst>
            </p:cNvPr>
            <p:cNvSpPr/>
            <p:nvPr/>
          </p:nvSpPr>
          <p:spPr>
            <a:xfrm>
              <a:off x="9655507" y="3004088"/>
              <a:ext cx="2167355" cy="31588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3E8194A6-9699-541E-D74C-4543BCCC2327}"/>
                </a:ext>
              </a:extLst>
            </p:cNvPr>
            <p:cNvSpPr/>
            <p:nvPr/>
          </p:nvSpPr>
          <p:spPr>
            <a:xfrm>
              <a:off x="9826616" y="3530040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总制动力校核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55F30882-5380-ADCD-EA89-A899E4CE0D63}"/>
                </a:ext>
              </a:extLst>
            </p:cNvPr>
            <p:cNvSpPr/>
            <p:nvPr/>
          </p:nvSpPr>
          <p:spPr>
            <a:xfrm>
              <a:off x="9826616" y="4242909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减速度误差检查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E304C9EA-0F14-3932-00FE-6E26490A708C}"/>
                </a:ext>
              </a:extLst>
            </p:cNvPr>
            <p:cNvSpPr/>
            <p:nvPr/>
          </p:nvSpPr>
          <p:spPr>
            <a:xfrm>
              <a:off x="9826616" y="5556913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物理约束验证</a:t>
              </a: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C4C809C-550C-5291-A4D7-EA9344B14103}"/>
                </a:ext>
              </a:extLst>
            </p:cNvPr>
            <p:cNvSpPr/>
            <p:nvPr/>
          </p:nvSpPr>
          <p:spPr>
            <a:xfrm>
              <a:off x="9826616" y="4904295"/>
              <a:ext cx="1921329" cy="3152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各轮制动力≥</a:t>
              </a: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DE2DF60-784C-135F-6AD8-D33E167B4AC5}"/>
                </a:ext>
              </a:extLst>
            </p:cNvPr>
            <p:cNvSpPr/>
            <p:nvPr/>
          </p:nvSpPr>
          <p:spPr>
            <a:xfrm>
              <a:off x="9483882" y="3038673"/>
              <a:ext cx="2510604" cy="3992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安全校核</a:t>
              </a:r>
            </a:p>
          </p:txBody>
        </p:sp>
        <p:cxnSp>
          <p:nvCxnSpPr>
            <p:cNvPr id="87" name="连接符: 肘形 107">
              <a:extLst>
                <a:ext uri="{FF2B5EF4-FFF2-40B4-BE49-F238E27FC236}">
                  <a16:creationId xmlns:a16="http://schemas.microsoft.com/office/drawing/2014/main" id="{0DC80407-3551-662E-7A28-83ABD8CF466E}"/>
                </a:ext>
              </a:extLst>
            </p:cNvPr>
            <p:cNvCxnSpPr>
              <a:cxnSpLocks/>
              <a:stCxn id="107" idx="3"/>
              <a:endCxn id="98" idx="1"/>
            </p:cNvCxnSpPr>
            <p:nvPr/>
          </p:nvCxnSpPr>
          <p:spPr>
            <a:xfrm flipV="1">
              <a:off x="2373537" y="3931194"/>
              <a:ext cx="192801" cy="65598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连接符: 肘形 107">
              <a:extLst>
                <a:ext uri="{FF2B5EF4-FFF2-40B4-BE49-F238E27FC236}">
                  <a16:creationId xmlns:a16="http://schemas.microsoft.com/office/drawing/2014/main" id="{EB590B36-8942-526A-B462-ED0942E02AEA}"/>
                </a:ext>
              </a:extLst>
            </p:cNvPr>
            <p:cNvCxnSpPr>
              <a:cxnSpLocks/>
              <a:stCxn id="103" idx="3"/>
              <a:endCxn id="73" idx="1"/>
            </p:cNvCxnSpPr>
            <p:nvPr/>
          </p:nvCxnSpPr>
          <p:spPr>
            <a:xfrm flipV="1">
              <a:off x="4714923" y="4579243"/>
              <a:ext cx="385727" cy="101805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11">
              <a:extLst>
                <a:ext uri="{FF2B5EF4-FFF2-40B4-BE49-F238E27FC236}">
                  <a16:creationId xmlns:a16="http://schemas.microsoft.com/office/drawing/2014/main" id="{AF7EBF5E-8F21-71AA-D091-4F7EED4F1B1D}"/>
                </a:ext>
              </a:extLst>
            </p:cNvPr>
            <p:cNvCxnSpPr>
              <a:cxnSpLocks/>
              <a:stCxn id="98" idx="2"/>
              <a:endCxn id="103" idx="0"/>
            </p:cNvCxnSpPr>
            <p:nvPr/>
          </p:nvCxnSpPr>
          <p:spPr>
            <a:xfrm>
              <a:off x="3640631" y="4861805"/>
              <a:ext cx="0" cy="1698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11">
              <a:extLst>
                <a:ext uri="{FF2B5EF4-FFF2-40B4-BE49-F238E27FC236}">
                  <a16:creationId xmlns:a16="http://schemas.microsoft.com/office/drawing/2014/main" id="{0D72A1EC-CB6E-177B-9DF7-0F5DE5F72999}"/>
                </a:ext>
              </a:extLst>
            </p:cNvPr>
            <p:cNvCxnSpPr>
              <a:cxnSpLocks/>
              <a:stCxn id="73" idx="3"/>
              <a:endCxn id="93" idx="1"/>
            </p:cNvCxnSpPr>
            <p:nvPr/>
          </p:nvCxnSpPr>
          <p:spPr>
            <a:xfrm>
              <a:off x="7268005" y="4579243"/>
              <a:ext cx="220148" cy="25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11">
              <a:extLst>
                <a:ext uri="{FF2B5EF4-FFF2-40B4-BE49-F238E27FC236}">
                  <a16:creationId xmlns:a16="http://schemas.microsoft.com/office/drawing/2014/main" id="{1F993EE3-8259-8F4B-F11C-D0D803FA3202}"/>
                </a:ext>
              </a:extLst>
            </p:cNvPr>
            <p:cNvCxnSpPr>
              <a:cxnSpLocks/>
              <a:stCxn id="93" idx="3"/>
              <a:endCxn id="81" idx="1"/>
            </p:cNvCxnSpPr>
            <p:nvPr/>
          </p:nvCxnSpPr>
          <p:spPr>
            <a:xfrm>
              <a:off x="9490086" y="4581746"/>
              <a:ext cx="165421" cy="17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连接符: 肘形 107">
              <a:extLst>
                <a:ext uri="{FF2B5EF4-FFF2-40B4-BE49-F238E27FC236}">
                  <a16:creationId xmlns:a16="http://schemas.microsoft.com/office/drawing/2014/main" id="{77BBE370-43FF-AABE-6AF8-68D998BE85C3}"/>
                </a:ext>
              </a:extLst>
            </p:cNvPr>
            <p:cNvCxnSpPr>
              <a:cxnSpLocks/>
              <a:stCxn id="109" idx="2"/>
              <a:endCxn id="73" idx="2"/>
            </p:cNvCxnSpPr>
            <p:nvPr/>
          </p:nvCxnSpPr>
          <p:spPr>
            <a:xfrm rot="16200000" flipH="1">
              <a:off x="3697262" y="3661965"/>
              <a:ext cx="154707" cy="4819425"/>
            </a:xfrm>
            <a:prstGeom prst="bentConnector3">
              <a:avLst>
                <a:gd name="adj1" fmla="val 2338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1B0CCED-7FEE-FCE0-2E13-9BDF8F6A72F8}"/>
              </a:ext>
            </a:extLst>
          </p:cNvPr>
          <p:cNvSpPr txBox="1"/>
          <p:nvPr/>
        </p:nvSpPr>
        <p:spPr>
          <a:xfrm>
            <a:off x="204975" y="2632895"/>
            <a:ext cx="19049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输入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制动踏板开度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计划转移比例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车速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轮速 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电机反馈状态（转矩</a:t>
            </a:r>
            <a:r>
              <a:rPr lang="en-US" altLang="zh-CN" dirty="0"/>
              <a:t>/</a:t>
            </a:r>
            <a:r>
              <a:rPr lang="zh-CN" altLang="en-US" dirty="0"/>
              <a:t>转速）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输出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电机再生制动扭矩指令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牵引车气压制动指令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挂车制动指令</a:t>
            </a:r>
            <a:endParaRPr lang="en-US" altLang="zh-CN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81B4322-F349-0300-0143-832352BB53C0}"/>
              </a:ext>
            </a:extLst>
          </p:cNvPr>
          <p:cNvSpPr txBox="1"/>
          <p:nvPr/>
        </p:nvSpPr>
        <p:spPr>
          <a:xfrm>
            <a:off x="328415" y="2042235"/>
            <a:ext cx="11511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此功能要求</a:t>
            </a:r>
            <a:r>
              <a:rPr lang="en-US" altLang="zh-CN" dirty="0"/>
              <a:t>EBS</a:t>
            </a:r>
            <a:r>
              <a:rPr lang="zh-CN" altLang="en-US" dirty="0"/>
              <a:t>系统开放接口：</a:t>
            </a:r>
            <a:r>
              <a:rPr lang="en-US" altLang="zh-CN" dirty="0"/>
              <a:t>VCU</a:t>
            </a:r>
            <a:r>
              <a:rPr lang="zh-CN" altLang="en-US" dirty="0"/>
              <a:t>需要从</a:t>
            </a:r>
            <a:r>
              <a:rPr lang="en-US" altLang="zh-CN" dirty="0"/>
              <a:t>EBS</a:t>
            </a:r>
            <a:r>
              <a:rPr lang="zh-CN" altLang="en-US" dirty="0"/>
              <a:t>制动压力分配的基础</a:t>
            </a:r>
            <a:r>
              <a:rPr lang="zh-CN" altLang="en-US" u="sng" dirty="0"/>
              <a:t>上将挂车的部分制动压力由电机制动进行弥补</a:t>
            </a:r>
            <a:r>
              <a:rPr lang="zh-CN" altLang="en-US" dirty="0"/>
              <a:t>，需要开放的接口包括</a:t>
            </a:r>
            <a:r>
              <a:rPr lang="zh-CN" altLang="en-US" b="1" dirty="0"/>
              <a:t>挂车通道压力接口</a:t>
            </a:r>
            <a:r>
              <a:rPr lang="zh-CN" altLang="en-US" dirty="0"/>
              <a:t>、</a:t>
            </a:r>
            <a:r>
              <a:rPr lang="en-US" altLang="zh-CN" dirty="0"/>
              <a:t>ABS/ESP</a:t>
            </a:r>
            <a:r>
              <a:rPr lang="zh-CN" altLang="en-US" dirty="0"/>
              <a:t>激活标志等</a:t>
            </a:r>
          </a:p>
        </p:txBody>
      </p:sp>
    </p:spTree>
    <p:extLst>
      <p:ext uri="{BB962C8B-B14F-4D97-AF65-F5344CB8AC3E}">
        <p14:creationId xmlns:p14="http://schemas.microsoft.com/office/powerpoint/2010/main" val="247292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1387-81A4-7E5F-5589-2EEAF011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79A42-FDDD-575F-5B9A-E59169288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3E12FC-B727-46EE-A3F4-36BAB21DAD93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3">
            <a:extLst>
              <a:ext uri="{FF2B5EF4-FFF2-40B4-BE49-F238E27FC236}">
                <a16:creationId xmlns:a16="http://schemas.microsoft.com/office/drawing/2014/main" id="{9594BF9E-F570-86A4-4BF3-13C1E609F8A3}"/>
              </a:ext>
            </a:extLst>
          </p:cNvPr>
          <p:cNvSpPr txBox="1">
            <a:spLocks/>
          </p:cNvSpPr>
          <p:nvPr/>
        </p:nvSpPr>
        <p:spPr>
          <a:xfrm>
            <a:off x="406398" y="88727"/>
            <a:ext cx="9575801" cy="542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EBS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接口初步拟定方案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8FAD25-2DF7-675E-ADA6-EA3E52B79C28}"/>
              </a:ext>
            </a:extLst>
          </p:cNvPr>
          <p:cNvSpPr txBox="1"/>
          <p:nvPr/>
        </p:nvSpPr>
        <p:spPr>
          <a:xfrm>
            <a:off x="73024" y="760413"/>
            <a:ext cx="4929281" cy="53367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VCU</a:t>
            </a:r>
            <a:r>
              <a:rPr lang="en-US" altLang="zh-CN" sz="2400" dirty="0"/>
              <a:t>→</a:t>
            </a: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EBS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接口（下发值）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3CC3C40-12A5-6B23-32D6-9B0F5A612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911262"/>
              </p:ext>
            </p:extLst>
          </p:nvPr>
        </p:nvGraphicFramePr>
        <p:xfrm>
          <a:off x="554989" y="1422862"/>
          <a:ext cx="11082022" cy="5057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806">
                  <a:extLst>
                    <a:ext uri="{9D8B030D-6E8A-4147-A177-3AD203B41FA5}">
                      <a16:colId xmlns:a16="http://schemas.microsoft.com/office/drawing/2014/main" val="3726172954"/>
                    </a:ext>
                  </a:extLst>
                </a:gridCol>
                <a:gridCol w="2781895">
                  <a:extLst>
                    <a:ext uri="{9D8B030D-6E8A-4147-A177-3AD203B41FA5}">
                      <a16:colId xmlns:a16="http://schemas.microsoft.com/office/drawing/2014/main" val="271660126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3477031032"/>
                    </a:ext>
                  </a:extLst>
                </a:gridCol>
                <a:gridCol w="4904741">
                  <a:extLst>
                    <a:ext uri="{9D8B030D-6E8A-4147-A177-3AD203B41FA5}">
                      <a16:colId xmlns:a16="http://schemas.microsoft.com/office/drawing/2014/main" val="4293003169"/>
                    </a:ext>
                  </a:extLst>
                </a:gridCol>
              </a:tblGrid>
              <a:tr h="4369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接口类型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接口名称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涉及功能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技术必要性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511167"/>
                  </a:ext>
                </a:extLst>
              </a:tr>
              <a:tr h="1000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标志位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功能控制模式使能请求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基础制动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驱动制动协调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主挂解耦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所有底层通道控制的总开关。无此模式，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默认按标准轴荷分配逻辑工作，所有通道压力请求将被忽略。</a:t>
                      </a:r>
                      <a:endParaRPr lang="en-US" altLang="zh-CN" sz="16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0=</a:t>
                      </a:r>
                      <a:r>
                        <a:rPr lang="zh-CN" altLang="en-US" sz="1600" u="none" strike="noStrike" dirty="0">
                          <a:effectLst/>
                        </a:rPr>
                        <a:t>未请求；</a:t>
                      </a:r>
                      <a:r>
                        <a:rPr lang="en-US" altLang="zh-CN" sz="1600" u="none" strike="noStrike" dirty="0">
                          <a:effectLst/>
                        </a:rPr>
                        <a:t>1=</a:t>
                      </a:r>
                      <a:r>
                        <a:rPr lang="zh-CN" altLang="en-US" sz="1600" u="none" strike="noStrike" dirty="0">
                          <a:effectLst/>
                        </a:rPr>
                        <a:t>请求；</a:t>
                      </a:r>
                      <a:r>
                        <a:rPr lang="en-US" altLang="zh-CN" sz="1600" u="none" strike="noStrike" dirty="0">
                          <a:effectLst/>
                        </a:rPr>
                        <a:t>2=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故障。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207996"/>
                  </a:ext>
                </a:extLst>
              </a:tr>
              <a:tr h="5739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反馈量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电机实际执行回馈扭矩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基础制动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主挂解耦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须知道电机弥补了多少制动压力才能调节气压，确保总减速度平顺。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949824"/>
                  </a:ext>
                </a:extLst>
              </a:tr>
              <a:tr h="609391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控制量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第一轴左侧制动压力请求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驱动制动协调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横摆控制必须在产生左右差动制动力矩。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12987"/>
                  </a:ext>
                </a:extLst>
              </a:tr>
              <a:tr h="609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第一轴右侧制动压力请求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同上。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326084"/>
                  </a:ext>
                </a:extLst>
              </a:tr>
              <a:tr h="609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第二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三轴左侧制动压力请求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横摆控制需要后轴左右差动制动。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659066"/>
                  </a:ext>
                </a:extLst>
              </a:tr>
              <a:tr h="609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第二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三轴右侧制动压力请求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同上，第二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三轴右侧独立通道。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707035"/>
                  </a:ext>
                </a:extLst>
              </a:tr>
              <a:tr h="60939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挂车制动压力请求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主挂解耦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减少挂车通道制动压力，实现主车纯电机反拖制动补偿。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6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68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2D131-BDC0-19D9-3BA4-1EA895EB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BC3E71-DD28-F562-2D5B-A0ED03CC6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3E12FC-B727-46EE-A3F4-36BAB21DAD93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3">
            <a:extLst>
              <a:ext uri="{FF2B5EF4-FFF2-40B4-BE49-F238E27FC236}">
                <a16:creationId xmlns:a16="http://schemas.microsoft.com/office/drawing/2014/main" id="{BA78290C-18D3-5C7B-083E-A82DCC8AA4BE}"/>
              </a:ext>
            </a:extLst>
          </p:cNvPr>
          <p:cNvSpPr txBox="1">
            <a:spLocks/>
          </p:cNvSpPr>
          <p:nvPr/>
        </p:nvSpPr>
        <p:spPr>
          <a:xfrm>
            <a:off x="406398" y="88727"/>
            <a:ext cx="9575801" cy="542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EBS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接口初步拟定方案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CD12E7-7640-C4F3-80E0-AED5DD06A10C}"/>
              </a:ext>
            </a:extLst>
          </p:cNvPr>
          <p:cNvSpPr txBox="1"/>
          <p:nvPr/>
        </p:nvSpPr>
        <p:spPr>
          <a:xfrm>
            <a:off x="73024" y="760413"/>
            <a:ext cx="4929281" cy="53367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323850" indent="-32385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 sz="1600" b="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微软雅黑" panose="020B0503020204020204" pitchFamily="34" charset="-122"/>
              <a:buChar char="–"/>
              <a:defRPr sz="14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17970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ln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latin typeface="+mn-lt"/>
                <a:ea typeface="+mn-ea"/>
                <a:cs typeface="+mn-ea"/>
                <a:sym typeface="+mn-lt"/>
              </a:rPr>
              <a:t>EBS</a:t>
            </a:r>
            <a:r>
              <a:rPr lang="en-US" altLang="zh-CN" sz="2400" dirty="0"/>
              <a:t>→</a:t>
            </a:r>
            <a:r>
              <a:rPr lang="en-US" altLang="zh-CN" sz="2400" b="1" dirty="0">
                <a:latin typeface="+mn-lt"/>
                <a:ea typeface="+mn-ea"/>
                <a:cs typeface="+mn-ea"/>
              </a:rPr>
              <a:t>VCU</a:t>
            </a:r>
            <a:r>
              <a:rPr lang="zh-CN" altLang="en-US" sz="2400" b="1" dirty="0">
                <a:latin typeface="+mn-lt"/>
                <a:ea typeface="+mn-ea"/>
                <a:cs typeface="+mn-ea"/>
                <a:sym typeface="+mn-lt"/>
              </a:rPr>
              <a:t>接口（反馈值）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7AF33E0-DB40-1F2C-0163-EEE7D6F3F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161172"/>
              </p:ext>
            </p:extLst>
          </p:nvPr>
        </p:nvGraphicFramePr>
        <p:xfrm>
          <a:off x="426719" y="1373004"/>
          <a:ext cx="11338561" cy="5107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4901">
                  <a:extLst>
                    <a:ext uri="{9D8B030D-6E8A-4147-A177-3AD203B41FA5}">
                      <a16:colId xmlns:a16="http://schemas.microsoft.com/office/drawing/2014/main" val="2635670969"/>
                    </a:ext>
                  </a:extLst>
                </a:gridCol>
                <a:gridCol w="3057520">
                  <a:extLst>
                    <a:ext uri="{9D8B030D-6E8A-4147-A177-3AD203B41FA5}">
                      <a16:colId xmlns:a16="http://schemas.microsoft.com/office/drawing/2014/main" val="27861237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3969095248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535853253"/>
                    </a:ext>
                  </a:extLst>
                </a:gridCol>
              </a:tblGrid>
              <a:tr h="465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接口类型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接口名称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涉及功能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技术必要性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方正黑体_GBK"/>
                        <a:ea typeface="等线" panose="02010600030101010101" pitchFamily="2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60291"/>
                  </a:ext>
                </a:extLst>
              </a:tr>
              <a:tr h="8345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反馈量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各通道实际制动压力反馈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基础制动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457200"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获取每个通道实际建立了多少气压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599800"/>
                  </a:ext>
                </a:extLst>
              </a:tr>
              <a:tr h="843939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标志位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功能控制模式状态反馈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基础制动</a:t>
                      </a:r>
                      <a:b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驱动制动协调</a:t>
                      </a:r>
                      <a:b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主挂解耦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须知道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是否真正进入底层控制模式。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0=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控制； </a:t>
                      </a:r>
                      <a:r>
                        <a:rPr lang="en-US" altLang="zh-CN" sz="1600" u="none" strike="noStrike" dirty="0">
                          <a:effectLst/>
                        </a:rPr>
                        <a:t>1=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控制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2=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故障不可用（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控制）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261191"/>
                  </a:ext>
                </a:extLst>
              </a:tr>
              <a:tr h="4186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各通道安全干预活跃标志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当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在执行</a:t>
                      </a:r>
                      <a:r>
                        <a:rPr lang="en-US" sz="1600" u="none" strike="noStrike" dirty="0">
                          <a:effectLst/>
                        </a:rPr>
                        <a:t>ABS/ESP/RSC</a:t>
                      </a:r>
                      <a:r>
                        <a:rPr lang="zh-CN" altLang="en-US" sz="1600" u="none" strike="noStrike" dirty="0">
                          <a:effectLst/>
                        </a:rPr>
                        <a:t>时，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停止功能请求。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82279"/>
                  </a:ext>
                </a:extLst>
              </a:tr>
              <a:tr h="11239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底层覆盖标志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当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覆盖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任一通道请求时，返回覆盖标志位。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0=</a:t>
                      </a:r>
                      <a:r>
                        <a:rPr lang="zh-CN" altLang="en-US" sz="1600" u="none" strike="noStrike" dirty="0">
                          <a:effectLst/>
                        </a:rPr>
                        <a:t>无覆盖 ；</a:t>
                      </a:r>
                      <a:r>
                        <a:rPr lang="en-US" altLang="zh-CN" sz="1600" u="none" strike="noStrike" dirty="0">
                          <a:effectLst/>
                        </a:rPr>
                        <a:t>1=</a:t>
                      </a:r>
                      <a:r>
                        <a:rPr lang="en-US" sz="1600" u="none" strike="noStrike" dirty="0">
                          <a:effectLst/>
                        </a:rPr>
                        <a:t>ABS/ESP/RSC</a:t>
                      </a:r>
                      <a:r>
                        <a:rPr lang="zh-CN" altLang="en-US" sz="1600" u="none" strike="noStrike" dirty="0">
                          <a:effectLst/>
                        </a:rPr>
                        <a:t>触发</a:t>
                      </a:r>
                      <a:br>
                        <a:rPr lang="en-US" altLang="zh-CN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2=</a:t>
                      </a:r>
                      <a:r>
                        <a:rPr lang="zh-CN" altLang="en-US" sz="1600" u="none" strike="noStrike" dirty="0">
                          <a:effectLst/>
                        </a:rPr>
                        <a:t>请求超限； </a:t>
                      </a:r>
                      <a:r>
                        <a:rPr lang="en-US" altLang="zh-CN" sz="1600" u="none" strike="noStrike" dirty="0">
                          <a:effectLst/>
                        </a:rPr>
                        <a:t>3=</a:t>
                      </a:r>
                      <a:r>
                        <a:rPr lang="zh-CN" altLang="en-US" sz="1600" u="none" strike="noStrike" dirty="0">
                          <a:effectLst/>
                        </a:rPr>
                        <a:t>变化率限制 </a:t>
                      </a:r>
                      <a:r>
                        <a:rPr lang="en-US" altLang="zh-CN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压力变化率过快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br>
                        <a:rPr lang="en-US" altLang="zh-CN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4=</a:t>
                      </a:r>
                      <a:r>
                        <a:rPr lang="zh-CN" altLang="en-US" sz="1600" u="none" strike="noStrike" dirty="0">
                          <a:effectLst/>
                        </a:rPr>
                        <a:t>优先权冲突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53331"/>
                  </a:ext>
                </a:extLst>
              </a:tr>
              <a:tr h="47381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effectLst/>
                        </a:rPr>
                        <a:t>控制量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各通道初始制动力矩分配情况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基础制动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主挂解耦</a:t>
                      </a: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需要知道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原本打算对各个通道施加多少制动压力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541585"/>
                  </a:ext>
                </a:extLst>
              </a:tr>
              <a:tr h="4738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解析后的目标减速度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effectLst/>
                        </a:rPr>
                        <a:t>如果</a:t>
                      </a: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自己去解析踏板，可能与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解析结果不同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672773"/>
                  </a:ext>
                </a:extLst>
              </a:tr>
              <a:tr h="473812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内部计算的目标总压力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VCU</a:t>
                      </a:r>
                      <a:r>
                        <a:rPr lang="zh-CN" altLang="en-US" sz="1600" u="none" strike="noStrike" dirty="0">
                          <a:effectLst/>
                        </a:rPr>
                        <a:t>读取此值，可以知道</a:t>
                      </a:r>
                      <a:r>
                        <a:rPr lang="en-US" sz="1600" u="none" strike="noStrike" dirty="0">
                          <a:effectLst/>
                        </a:rPr>
                        <a:t>EBS</a:t>
                      </a:r>
                      <a:r>
                        <a:rPr lang="zh-CN" altLang="en-US" sz="1600" u="none" strike="noStrike" dirty="0">
                          <a:effectLst/>
                        </a:rPr>
                        <a:t>打算输出多少气动压力。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3280" marR="3280" marT="32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043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614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FjNjAzZGY4ZTliM2FjMDIwOGIyYTk3NWIxMzcwM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ICV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206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342900" indent="-342900" algn="l">
          <a:buFont typeface="Wingdings" panose="05000000000000000000" pitchFamily="2" charset="2"/>
          <a:buChar char="p"/>
          <a:defRPr sz="2800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4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16849</TotalTime>
  <Words>1108</Words>
  <Application>Microsoft Macintosh PowerPoint</Application>
  <PresentationFormat>宽屏</PresentationFormat>
  <Paragraphs>173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等线</vt:lpstr>
      <vt:lpstr>方正黑体_GBK</vt:lpstr>
      <vt:lpstr>仿宋</vt:lpstr>
      <vt:lpstr>华文中宋</vt:lpstr>
      <vt:lpstr>微软雅黑</vt:lpstr>
      <vt:lpstr>Arial</vt:lpstr>
      <vt:lpstr>Calibri</vt:lpstr>
      <vt:lpstr>Calibri Light</vt:lpstr>
      <vt:lpstr>Times New Roman</vt:lpstr>
      <vt:lpstr>Wingdings</vt:lpstr>
      <vt:lpstr>1_Office 主题​​</vt:lpstr>
      <vt:lpstr>3_2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 录</dc:title>
  <dc:creator>ymm</dc:creator>
  <cp:lastModifiedBy>Ma Taiheng</cp:lastModifiedBy>
  <cp:revision>570</cp:revision>
  <dcterms:created xsi:type="dcterms:W3CDTF">2024-01-23T10:45:00Z</dcterms:created>
  <dcterms:modified xsi:type="dcterms:W3CDTF">2025-12-22T08:18:47Z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5BF7D00282934E0AA1407D8C80077B46_12</vt:lpwstr>
  </property>
  <property fmtid="{D5CDD505-2E9C-101B-9397-08002B2CF9AE}" pid="3" name="KSOProductBuildVer">
    <vt:lpwstr>2052-12.1.0.16120</vt:lpwstr>
  </property>
</Properties>
</file>